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26"/>
  </p:notesMasterIdLst>
  <p:sldIdLst>
    <p:sldId id="256" r:id="rId2"/>
    <p:sldId id="258" r:id="rId3"/>
    <p:sldId id="257" r:id="rId4"/>
    <p:sldId id="259" r:id="rId5"/>
    <p:sldId id="274" r:id="rId6"/>
    <p:sldId id="277" r:id="rId7"/>
    <p:sldId id="275" r:id="rId8"/>
    <p:sldId id="276" r:id="rId9"/>
    <p:sldId id="278" r:id="rId10"/>
    <p:sldId id="260" r:id="rId11"/>
    <p:sldId id="261" r:id="rId12"/>
    <p:sldId id="262" r:id="rId13"/>
    <p:sldId id="263" r:id="rId14"/>
    <p:sldId id="264" r:id="rId15"/>
    <p:sldId id="279" r:id="rId16"/>
    <p:sldId id="280" r:id="rId17"/>
    <p:sldId id="281" r:id="rId18"/>
    <p:sldId id="268" r:id="rId19"/>
    <p:sldId id="282" r:id="rId20"/>
    <p:sldId id="283" r:id="rId21"/>
    <p:sldId id="285" r:id="rId22"/>
    <p:sldId id="284" r:id="rId23"/>
    <p:sldId id="286" r:id="rId24"/>
    <p:sldId id="272" r:id="rId25"/>
  </p:sldIdLst>
  <p:sldSz cx="18288000" cy="102870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Montserrat Black" panose="00000A00000000000000" pitchFamily="2" charset="0"/>
      <p:bold r:id="rId31"/>
      <p:boldItalic r:id="rId32"/>
    </p:embeddedFont>
    <p:embeddedFont>
      <p:font typeface="Montserrat Medium" panose="000006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7F35A4-4400-4069-BC7C-99DAD7CCA843}">
  <a:tblStyle styleId="{3F7F35A4-4400-4069-BC7C-99DAD7CCA8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940" y="56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" name="Google Shape;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1a0acd4d9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11a0acd4d9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128af056d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1128af056d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128af056d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1128af056d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B2EB47F1-258D-65D1-AFD8-A4F24993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128af056da_0_15:notes">
            <a:extLst>
              <a:ext uri="{FF2B5EF4-FFF2-40B4-BE49-F238E27FC236}">
                <a16:creationId xmlns:a16="http://schemas.microsoft.com/office/drawing/2014/main" id="{A1594B42-4C90-7EDF-72F7-46FE59E3C0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128af056da_0_15:notes">
            <a:extLst>
              <a:ext uri="{FF2B5EF4-FFF2-40B4-BE49-F238E27FC236}">
                <a16:creationId xmlns:a16="http://schemas.microsoft.com/office/drawing/2014/main" id="{F7687BD7-DE2E-0567-10FF-534992389D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2582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>
          <a:extLst>
            <a:ext uri="{FF2B5EF4-FFF2-40B4-BE49-F238E27FC236}">
              <a16:creationId xmlns:a16="http://schemas.microsoft.com/office/drawing/2014/main" id="{4BDE9F2D-ED08-9733-E9A3-7C9600CA5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128af056da_0_50:notes">
            <a:extLst>
              <a:ext uri="{FF2B5EF4-FFF2-40B4-BE49-F238E27FC236}">
                <a16:creationId xmlns:a16="http://schemas.microsoft.com/office/drawing/2014/main" id="{26B33B87-6134-33BC-7BF5-0BE5CB8BA3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1128af056da_0_50:notes">
            <a:extLst>
              <a:ext uri="{FF2B5EF4-FFF2-40B4-BE49-F238E27FC236}">
                <a16:creationId xmlns:a16="http://schemas.microsoft.com/office/drawing/2014/main" id="{E9C4D807-45E0-38BD-C67E-740890999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43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>
          <a:extLst>
            <a:ext uri="{FF2B5EF4-FFF2-40B4-BE49-F238E27FC236}">
              <a16:creationId xmlns:a16="http://schemas.microsoft.com/office/drawing/2014/main" id="{3BA1B9BF-943C-0368-ACAA-8BA0A92D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128af056da_0_50:notes">
            <a:extLst>
              <a:ext uri="{FF2B5EF4-FFF2-40B4-BE49-F238E27FC236}">
                <a16:creationId xmlns:a16="http://schemas.microsoft.com/office/drawing/2014/main" id="{E8B3688A-0421-4876-47E7-4E082D049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1128af056da_0_50:notes">
            <a:extLst>
              <a:ext uri="{FF2B5EF4-FFF2-40B4-BE49-F238E27FC236}">
                <a16:creationId xmlns:a16="http://schemas.microsoft.com/office/drawing/2014/main" id="{A9815A45-A8E4-EBA4-49DA-6A3D509709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017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>
          <a:extLst>
            <a:ext uri="{FF2B5EF4-FFF2-40B4-BE49-F238E27FC236}">
              <a16:creationId xmlns:a16="http://schemas.microsoft.com/office/drawing/2014/main" id="{5A82FF37-0CBF-C84C-C357-1E8EE823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1a0acd4d96_0_23:notes">
            <a:extLst>
              <a:ext uri="{FF2B5EF4-FFF2-40B4-BE49-F238E27FC236}">
                <a16:creationId xmlns:a16="http://schemas.microsoft.com/office/drawing/2014/main" id="{B4C4B1EC-B985-603C-0045-665D2E752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11a0acd4d96_0_23:notes">
            <a:extLst>
              <a:ext uri="{FF2B5EF4-FFF2-40B4-BE49-F238E27FC236}">
                <a16:creationId xmlns:a16="http://schemas.microsoft.com/office/drawing/2014/main" id="{CCAD50BA-104F-39D1-72C8-3D9FAA5813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395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>
          <a:extLst>
            <a:ext uri="{FF2B5EF4-FFF2-40B4-BE49-F238E27FC236}">
              <a16:creationId xmlns:a16="http://schemas.microsoft.com/office/drawing/2014/main" id="{42F6CDD3-1A33-21CF-03C4-532E9C272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128af056da_0_50:notes">
            <a:extLst>
              <a:ext uri="{FF2B5EF4-FFF2-40B4-BE49-F238E27FC236}">
                <a16:creationId xmlns:a16="http://schemas.microsoft.com/office/drawing/2014/main" id="{3CD9B610-4089-C8F0-E286-EFD8B51CA0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1128af056da_0_50:notes">
            <a:extLst>
              <a:ext uri="{FF2B5EF4-FFF2-40B4-BE49-F238E27FC236}">
                <a16:creationId xmlns:a16="http://schemas.microsoft.com/office/drawing/2014/main" id="{2573FF26-5999-E091-10D6-ED206603A8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2259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128af056d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128af056d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263e956cf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2263e956cf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dc9287eb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dc9287eb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0eefefbcd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0eefefbcd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0eefefbcd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0eefefbcd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>
          <a:extLst>
            <a:ext uri="{FF2B5EF4-FFF2-40B4-BE49-F238E27FC236}">
              <a16:creationId xmlns:a16="http://schemas.microsoft.com/office/drawing/2014/main" id="{8827498A-49FB-2558-8EDE-B8725944C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263e956cf0_0_15:notes">
            <a:extLst>
              <a:ext uri="{FF2B5EF4-FFF2-40B4-BE49-F238E27FC236}">
                <a16:creationId xmlns:a16="http://schemas.microsoft.com/office/drawing/2014/main" id="{969CB9C3-F8B5-4A19-59F1-CF3C8BE61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2263e956cf0_0_15:notes">
            <a:extLst>
              <a:ext uri="{FF2B5EF4-FFF2-40B4-BE49-F238E27FC236}">
                <a16:creationId xmlns:a16="http://schemas.microsoft.com/office/drawing/2014/main" id="{5298029A-8D1C-731C-B6A8-7539BA393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779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>
          <a:extLst>
            <a:ext uri="{FF2B5EF4-FFF2-40B4-BE49-F238E27FC236}">
              <a16:creationId xmlns:a16="http://schemas.microsoft.com/office/drawing/2014/main" id="{7379753B-7447-848F-FDA6-047054C2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263e956cf0_0_15:notes">
            <a:extLst>
              <a:ext uri="{FF2B5EF4-FFF2-40B4-BE49-F238E27FC236}">
                <a16:creationId xmlns:a16="http://schemas.microsoft.com/office/drawing/2014/main" id="{F868644B-CD2A-BD4C-4E2E-23E82667D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2263e956cf0_0_15:notes">
            <a:extLst>
              <a:ext uri="{FF2B5EF4-FFF2-40B4-BE49-F238E27FC236}">
                <a16:creationId xmlns:a16="http://schemas.microsoft.com/office/drawing/2014/main" id="{CBA3050F-DBDC-B6FF-3D08-7F64752F96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61552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8AC107CC-E495-0461-5735-6FD87C700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28af056da_0_75:notes">
            <a:extLst>
              <a:ext uri="{FF2B5EF4-FFF2-40B4-BE49-F238E27FC236}">
                <a16:creationId xmlns:a16="http://schemas.microsoft.com/office/drawing/2014/main" id="{13A0D497-25F8-2FA9-8841-074914C13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28af056da_0_75:notes">
            <a:extLst>
              <a:ext uri="{FF2B5EF4-FFF2-40B4-BE49-F238E27FC236}">
                <a16:creationId xmlns:a16="http://schemas.microsoft.com/office/drawing/2014/main" id="{D1809F7E-A29F-98F2-CE0B-6A6B59A3D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36048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eefefbc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0eefefbc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>
          <a:extLst>
            <a:ext uri="{FF2B5EF4-FFF2-40B4-BE49-F238E27FC236}">
              <a16:creationId xmlns:a16="http://schemas.microsoft.com/office/drawing/2014/main" id="{C1ABD441-1B80-CF94-E23A-6BB156A5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263e956cf0_0_15:notes">
            <a:extLst>
              <a:ext uri="{FF2B5EF4-FFF2-40B4-BE49-F238E27FC236}">
                <a16:creationId xmlns:a16="http://schemas.microsoft.com/office/drawing/2014/main" id="{00490B88-66DA-FD6F-0E65-C5018ECEB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2263e956cf0_0_15:notes">
            <a:extLst>
              <a:ext uri="{FF2B5EF4-FFF2-40B4-BE49-F238E27FC236}">
                <a16:creationId xmlns:a16="http://schemas.microsoft.com/office/drawing/2014/main" id="{13404FB4-1640-4018-316F-3C3881B0F4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3978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CB3EABF3-7174-AE84-B286-4C45B631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128af056da_0_15:notes">
            <a:extLst>
              <a:ext uri="{FF2B5EF4-FFF2-40B4-BE49-F238E27FC236}">
                <a16:creationId xmlns:a16="http://schemas.microsoft.com/office/drawing/2014/main" id="{D89F1750-BDFE-D376-C344-A22D9003F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128af056da_0_15:notes">
            <a:extLst>
              <a:ext uri="{FF2B5EF4-FFF2-40B4-BE49-F238E27FC236}">
                <a16:creationId xmlns:a16="http://schemas.microsoft.com/office/drawing/2014/main" id="{93A62795-CD8F-1DF4-F46D-431E64385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498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>
          <a:extLst>
            <a:ext uri="{FF2B5EF4-FFF2-40B4-BE49-F238E27FC236}">
              <a16:creationId xmlns:a16="http://schemas.microsoft.com/office/drawing/2014/main" id="{A913BB33-45D5-9689-4D4D-0EAB75AA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263e956cf0_0_15:notes">
            <a:extLst>
              <a:ext uri="{FF2B5EF4-FFF2-40B4-BE49-F238E27FC236}">
                <a16:creationId xmlns:a16="http://schemas.microsoft.com/office/drawing/2014/main" id="{755DC732-D261-97AA-F2F9-B132C007AB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2263e956cf0_0_15:notes">
            <a:extLst>
              <a:ext uri="{FF2B5EF4-FFF2-40B4-BE49-F238E27FC236}">
                <a16:creationId xmlns:a16="http://schemas.microsoft.com/office/drawing/2014/main" id="{7FF7F475-4157-A1E2-FD4F-D9497CCE4F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2842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2DF56C79-0336-93C3-99AA-6948AD639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eefefbcd5_0_62:notes">
            <a:extLst>
              <a:ext uri="{FF2B5EF4-FFF2-40B4-BE49-F238E27FC236}">
                <a16:creationId xmlns:a16="http://schemas.microsoft.com/office/drawing/2014/main" id="{DC65541D-BD59-CE03-6AA2-38CA65BD4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0eefefbcd5_0_62:notes">
            <a:extLst>
              <a:ext uri="{FF2B5EF4-FFF2-40B4-BE49-F238E27FC236}">
                <a16:creationId xmlns:a16="http://schemas.microsoft.com/office/drawing/2014/main" id="{082CDF17-608C-DC26-D512-2686A43F5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659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>
          <a:extLst>
            <a:ext uri="{FF2B5EF4-FFF2-40B4-BE49-F238E27FC236}">
              <a16:creationId xmlns:a16="http://schemas.microsoft.com/office/drawing/2014/main" id="{756497F9-5664-0A44-623C-D3841118D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263e956cf0_0_15:notes">
            <a:extLst>
              <a:ext uri="{FF2B5EF4-FFF2-40B4-BE49-F238E27FC236}">
                <a16:creationId xmlns:a16="http://schemas.microsoft.com/office/drawing/2014/main" id="{31DEF662-092D-677C-D5CD-102FADF75F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2263e956cf0_0_15:notes">
            <a:extLst>
              <a:ext uri="{FF2B5EF4-FFF2-40B4-BE49-F238E27FC236}">
                <a16:creationId xmlns:a16="http://schemas.microsoft.com/office/drawing/2014/main" id="{88FB37F5-7B01-E45C-49B5-59B1A1716D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89007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128af056d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128af056d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">
  <p:cSld name="CUSTOM_1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>
  <p:cSld name="CUSTOM_6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CUSTOM_2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">
  <p:cSld name="CUSTOM_3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ninkovski/clase--modelo/blob/main/us-01-portafolio-profesional.md" TargetMode="External"/><Relationship Id="rId4" Type="http://schemas.openxmlformats.org/officeDocument/2006/relationships/hyperlink" Target="https://ninkovski.github.io/cv-digital-frontend-react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/>
        </p:nvSpPr>
        <p:spPr>
          <a:xfrm>
            <a:off x="1223524" y="2514602"/>
            <a:ext cx="9112461" cy="2016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200"/>
              </a:spcAft>
              <a:buNone/>
            </a:pPr>
            <a:r>
              <a:rPr lang="es-MX" sz="6600" b="1" dirty="0">
                <a:solidFill>
                  <a:schemeClr val="tx1"/>
                </a:solidFill>
                <a:latin typeface="-apple-system"/>
              </a:rPr>
              <a:t>Entrega de Valor de alto impacto</a:t>
            </a:r>
            <a:endParaRPr lang="es-PE" sz="6600" b="1" i="0" dirty="0">
              <a:solidFill>
                <a:schemeClr val="tx1"/>
              </a:solidFill>
              <a:effectLst/>
              <a:latin typeface="-apple-system"/>
            </a:endParaRPr>
          </a:p>
        </p:txBody>
      </p:sp>
      <p:sp>
        <p:nvSpPr>
          <p:cNvPr id="21" name="Google Shape;21;p7"/>
          <p:cNvSpPr txBox="1"/>
          <p:nvPr/>
        </p:nvSpPr>
        <p:spPr>
          <a:xfrm>
            <a:off x="1354154" y="8477571"/>
            <a:ext cx="8007300" cy="42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2200"/>
            </a:pPr>
            <a:r>
              <a:rPr lang="es-419" sz="2000" b="1" i="1" dirty="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Ninkovski Morales — </a:t>
            </a:r>
            <a:r>
              <a:rPr lang="es-419" sz="2400" b="1" i="1" dirty="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Senior</a:t>
            </a:r>
            <a:r>
              <a:rPr lang="es-419" sz="2000" b="1" i="1" dirty="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 Software </a:t>
            </a:r>
            <a:r>
              <a:rPr lang="es-419" sz="2000" b="1" i="1" dirty="0" err="1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Engineer</a:t>
            </a:r>
            <a:endParaRPr lang="es-419" sz="2000" b="1" i="1" u="none" strike="noStrike" cap="none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" name="Google Shape;22;p7"/>
          <p:cNvCxnSpPr/>
          <p:nvPr/>
        </p:nvCxnSpPr>
        <p:spPr>
          <a:xfrm rot="10800000">
            <a:off x="1457779" y="8207996"/>
            <a:ext cx="897000" cy="0"/>
          </a:xfrm>
          <a:prstGeom prst="straightConnector1">
            <a:avLst/>
          </a:prstGeom>
          <a:noFill/>
          <a:ln w="762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20;p7">
            <a:extLst>
              <a:ext uri="{FF2B5EF4-FFF2-40B4-BE49-F238E27FC236}">
                <a16:creationId xmlns:a16="http://schemas.microsoft.com/office/drawing/2014/main" id="{F0839C35-2762-47AD-BB55-894B3B44AA89}"/>
              </a:ext>
            </a:extLst>
          </p:cNvPr>
          <p:cNvSpPr txBox="1"/>
          <p:nvPr/>
        </p:nvSpPr>
        <p:spPr>
          <a:xfrm>
            <a:off x="1223525" y="4857581"/>
            <a:ext cx="8007300" cy="826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5500"/>
            </a:pPr>
            <a:r>
              <a:rPr lang="es-MX" sz="2400" i="1" dirty="0">
                <a:solidFill>
                  <a:schemeClr val="accent1"/>
                </a:solidFill>
                <a:latin typeface="Montserrat Black"/>
                <a:ea typeface="Montserrat"/>
                <a:cs typeface="Montserrat"/>
                <a:sym typeface="Montserrat Black"/>
              </a:rPr>
              <a:t>De un CV estático a una plataforma profesional viva</a:t>
            </a:r>
            <a:endParaRPr sz="2400" i="1" dirty="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7D2B346-BE24-DDA2-6074-84BB07CC3E36}"/>
              </a:ext>
            </a:extLst>
          </p:cNvPr>
          <p:cNvSpPr txBox="1"/>
          <p:nvPr/>
        </p:nvSpPr>
        <p:spPr>
          <a:xfrm>
            <a:off x="8985250" y="846150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s-ES" sz="2400" i="1" dirty="0">
                <a:latin typeface="Montserrat Black"/>
                <a:ea typeface="Montserrat"/>
                <a:cs typeface="Montserrat"/>
                <a:sym typeface="Montserrat Black"/>
              </a:rPr>
              <a:t>2026-1</a:t>
            </a:r>
            <a:endParaRPr lang="es-ES" sz="2400"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/>
        </p:nvSpPr>
        <p:spPr>
          <a:xfrm>
            <a:off x="1894800" y="2792925"/>
            <a:ext cx="77697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Resumen del docente</a:t>
            </a:r>
            <a:endParaRPr sz="4000" i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9"/>
          <p:cNvSpPr txBox="1"/>
          <p:nvPr/>
        </p:nvSpPr>
        <p:spPr>
          <a:xfrm>
            <a:off x="1682527" y="3821388"/>
            <a:ext cx="9208629" cy="497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Soy Ninkovski Morales Janampa, Ingeniero Mecatrónico egresado de la Universidad Nacional de Ingeniería (UNI) y Magíster en Gerencia de Tecnologías de la Información por la PUCP. Cuento con 6 años de trayectoria como Senior Software </a:t>
            </a:r>
            <a:r>
              <a:rPr lang="es-MX" sz="24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Engineer</a:t>
            </a: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especializándome en el desarrollo </a:t>
            </a:r>
            <a:r>
              <a:rPr lang="es-MX" sz="24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backend</a:t>
            </a: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y el diseño de ecosistemas Cloud-Native mediante el uso de tecnologías como Spring </a:t>
            </a:r>
            <a:r>
              <a:rPr lang="es-MX" sz="24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Boot</a:t>
            </a: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s-MX" sz="24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Quarkus</a:t>
            </a: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y </a:t>
            </a:r>
            <a:r>
              <a:rPr lang="es-MX" sz="24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Kubernetes</a:t>
            </a: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Mi perfil técnico está respaldado por certificaciones internacionales, destacando como Microsoft Azure </a:t>
            </a:r>
            <a:r>
              <a:rPr lang="es-MX" sz="24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Developer</a:t>
            </a: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MX" sz="24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Associate</a:t>
            </a: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(AZ-204) y en GitHub </a:t>
            </a:r>
            <a:r>
              <a:rPr lang="es-MX" sz="24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Copilot</a:t>
            </a: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(GH-300). Además, como Microsoft </a:t>
            </a:r>
            <a:r>
              <a:rPr lang="es-MX" sz="24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Learn</a:t>
            </a: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MX" sz="24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</a:t>
            </a: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MX" sz="24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Ambassador</a:t>
            </a:r>
            <a:r>
              <a:rPr lang="es-MX" sz="24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complemento mi labor técnica con la docencia y la difusión de arquitecturas de software y automatización en la nube.</a:t>
            </a:r>
            <a:endParaRPr sz="2400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/>
        </p:nvSpPr>
        <p:spPr>
          <a:xfrm>
            <a:off x="2202000" y="2141025"/>
            <a:ext cx="71553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Índice</a:t>
            </a:r>
            <a:endParaRPr sz="4000" i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28;p8"/>
          <p:cNvSpPr txBox="1"/>
          <p:nvPr/>
        </p:nvSpPr>
        <p:spPr>
          <a:xfrm>
            <a:off x="2201999" y="2780024"/>
            <a:ext cx="9538243" cy="657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Introducción y Propósito (2 min)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El valor real del software y mensaje central.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Contexto y Objetivos (3 min)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Análisis de un MVP en producción y metas de la clase.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Análisis del Producto Actual (5 min)</a:t>
            </a:r>
          </a:p>
          <a:p>
            <a:pPr marL="133350" lvl="1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Capacidades del MVP y Arquitectura (</a:t>
            </a:r>
            <a:r>
              <a:rPr lang="es-MX" sz="20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React</a:t>
            </a:r>
            <a:r>
              <a:rPr lang="es-MX" sz="20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+ Spring </a:t>
            </a:r>
            <a:r>
              <a:rPr lang="es-MX" sz="20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Boot</a:t>
            </a:r>
            <a:r>
              <a:rPr lang="es-MX" sz="20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).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Estrategia de Crecimiento (3 min)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Evolución planeada y fases de mejora continua.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Desafío Técnico y Escalabilidad (2 min)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Tarea principal y mentalidad de "Costo 0".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Evaluación y Cierre (4 min)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Entregables, rúbrica y conclusiones finales.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b="1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Espacio de Consultas (4 min)</a:t>
            </a:r>
          </a:p>
          <a:p>
            <a:pPr marL="133350" lvl="0">
              <a:lnSpc>
                <a:spcPct val="150000"/>
              </a:lnSpc>
              <a:buClr>
                <a:srgbClr val="FFFFFF"/>
              </a:buClr>
              <a:buSzPts val="1500"/>
            </a:pPr>
            <a:r>
              <a:rPr lang="es-MX" sz="20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Preguntas, respuestas y </a:t>
            </a:r>
            <a:r>
              <a:rPr lang="es-MX" sz="20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feedback</a:t>
            </a:r>
            <a:r>
              <a:rPr lang="es-MX" sz="20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2000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/>
        </p:nvSpPr>
        <p:spPr>
          <a:xfrm>
            <a:off x="1628769" y="5634875"/>
            <a:ext cx="8451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SzPts val="4500"/>
            </a:pPr>
            <a:r>
              <a:rPr lang="es-419" sz="4000" dirty="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Introducción y Propósito</a:t>
            </a:r>
            <a:endParaRPr sz="4000" b="0" i="1" u="none" strike="noStrike" cap="none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Google Shape;40;p10"/>
          <p:cNvSpPr txBox="1"/>
          <p:nvPr/>
        </p:nvSpPr>
        <p:spPr>
          <a:xfrm>
            <a:off x="1536227" y="3625375"/>
            <a:ext cx="1332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8000">
                <a:latin typeface="Montserrat Black"/>
                <a:ea typeface="Montserrat Black"/>
                <a:cs typeface="Montserrat Black"/>
                <a:sym typeface="Montserrat Black"/>
              </a:rPr>
              <a:t>1</a:t>
            </a:r>
            <a:r>
              <a:rPr lang="es-419" sz="8000" b="0" i="0" u="none" strike="noStrike" cap="none"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8000" b="0" i="1" u="none" strike="noStrike" cap="none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" name="Google Shape;41;p10"/>
          <p:cNvCxnSpPr/>
          <p:nvPr/>
        </p:nvCxnSpPr>
        <p:spPr>
          <a:xfrm rot="10800000">
            <a:off x="1628770" y="4652125"/>
            <a:ext cx="11475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2392C385-959D-3DAC-7EAF-7DB80FE0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cadillo: ovalado 1">
            <a:extLst>
              <a:ext uri="{FF2B5EF4-FFF2-40B4-BE49-F238E27FC236}">
                <a16:creationId xmlns:a16="http://schemas.microsoft.com/office/drawing/2014/main" id="{17197CAB-06B1-50F4-A1E4-923A066F4556}"/>
              </a:ext>
            </a:extLst>
          </p:cNvPr>
          <p:cNvSpPr/>
          <p:nvPr/>
        </p:nvSpPr>
        <p:spPr>
          <a:xfrm rot="4461237">
            <a:off x="9454941" y="1879468"/>
            <a:ext cx="4639912" cy="4363681"/>
          </a:xfrm>
          <a:prstGeom prst="wedgeEllipse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Google Shape;39;p10">
            <a:extLst>
              <a:ext uri="{FF2B5EF4-FFF2-40B4-BE49-F238E27FC236}">
                <a16:creationId xmlns:a16="http://schemas.microsoft.com/office/drawing/2014/main" id="{90725FBF-9D60-4C9D-6E51-417D235DF305}"/>
              </a:ext>
            </a:extLst>
          </p:cNvPr>
          <p:cNvSpPr txBox="1"/>
          <p:nvPr/>
        </p:nvSpPr>
        <p:spPr>
          <a:xfrm>
            <a:off x="10254344" y="2964492"/>
            <a:ext cx="3429000" cy="219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SzPts val="4500"/>
            </a:pPr>
            <a:r>
              <a:rPr lang="es-MX" sz="4000" dirty="0">
                <a:solidFill>
                  <a:schemeClr val="tx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¿qué valor recibe alguien que te quiere contratar?</a:t>
            </a:r>
            <a:endParaRPr sz="4000" dirty="0">
              <a:solidFill>
                <a:schemeClr val="tx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AE89E34-564C-5447-D129-BA8573B93D5D}"/>
              </a:ext>
            </a:extLst>
          </p:cNvPr>
          <p:cNvSpPr txBox="1"/>
          <p:nvPr/>
        </p:nvSpPr>
        <p:spPr>
          <a:xfrm>
            <a:off x="2659002" y="7472777"/>
            <a:ext cx="129699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2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Hoy un profesional no es solo técnico. Entrega valor medible.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2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Tu código debe resolver un problema real, no solo verse “bonito”.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2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Desde estudiante puedes demostrar impacto con un producto real.</a:t>
            </a:r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7DEE68ED-DB5A-D503-8DC0-F3CDC440D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076" y="997145"/>
            <a:ext cx="6128324" cy="61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31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C08CC6BB-902D-987B-8C7A-42348549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>
            <a:extLst>
              <a:ext uri="{FF2B5EF4-FFF2-40B4-BE49-F238E27FC236}">
                <a16:creationId xmlns:a16="http://schemas.microsoft.com/office/drawing/2014/main" id="{2754F6C9-0845-2438-F208-630CFC19244A}"/>
              </a:ext>
            </a:extLst>
          </p:cNvPr>
          <p:cNvSpPr txBox="1"/>
          <p:nvPr/>
        </p:nvSpPr>
        <p:spPr>
          <a:xfrm>
            <a:off x="1628769" y="5634875"/>
            <a:ext cx="8451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SzPts val="4500"/>
            </a:pPr>
            <a:r>
              <a:rPr lang="es-419" sz="4000" dirty="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Contexto y Objetivos</a:t>
            </a:r>
            <a:endParaRPr sz="4000" b="0" i="1" u="none" strike="noStrike" cap="none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Google Shape;40;p10">
            <a:extLst>
              <a:ext uri="{FF2B5EF4-FFF2-40B4-BE49-F238E27FC236}">
                <a16:creationId xmlns:a16="http://schemas.microsoft.com/office/drawing/2014/main" id="{87A6B522-CB60-86C8-4D26-39FE9ADAFD34}"/>
              </a:ext>
            </a:extLst>
          </p:cNvPr>
          <p:cNvSpPr txBox="1"/>
          <p:nvPr/>
        </p:nvSpPr>
        <p:spPr>
          <a:xfrm>
            <a:off x="1536227" y="3625375"/>
            <a:ext cx="1332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8000" b="0" i="0" u="none" strike="noStrike" cap="none" dirty="0">
                <a:latin typeface="Montserrat Black"/>
                <a:ea typeface="Montserrat Black"/>
                <a:cs typeface="Montserrat Black"/>
                <a:sym typeface="Montserrat Black"/>
              </a:rPr>
              <a:t>2.</a:t>
            </a:r>
            <a:endParaRPr sz="8000" b="0" i="1" u="none" strike="noStrike" cap="none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" name="Google Shape;41;p10">
            <a:extLst>
              <a:ext uri="{FF2B5EF4-FFF2-40B4-BE49-F238E27FC236}">
                <a16:creationId xmlns:a16="http://schemas.microsoft.com/office/drawing/2014/main" id="{7E196AAC-8028-2802-53D6-BDB048E82092}"/>
              </a:ext>
            </a:extLst>
          </p:cNvPr>
          <p:cNvCxnSpPr/>
          <p:nvPr/>
        </p:nvCxnSpPr>
        <p:spPr>
          <a:xfrm rot="10800000">
            <a:off x="1628770" y="4652125"/>
            <a:ext cx="11475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005345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45C118CC-C541-0F50-4BC0-8ADF9164B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6;p11">
            <a:extLst>
              <a:ext uri="{FF2B5EF4-FFF2-40B4-BE49-F238E27FC236}">
                <a16:creationId xmlns:a16="http://schemas.microsoft.com/office/drawing/2014/main" id="{0B4E2F1E-1932-70F3-35D8-80048530E96B}"/>
              </a:ext>
            </a:extLst>
          </p:cNvPr>
          <p:cNvSpPr txBox="1"/>
          <p:nvPr/>
        </p:nvSpPr>
        <p:spPr>
          <a:xfrm>
            <a:off x="-169945" y="2412953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dirty="0">
                <a:latin typeface="Montserrat Black"/>
                <a:ea typeface="Montserrat Black"/>
                <a:cs typeface="Montserrat Black"/>
                <a:sym typeface="Montserrat Black"/>
              </a:rPr>
              <a:t>Contexto Real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47;p11">
            <a:extLst>
              <a:ext uri="{FF2B5EF4-FFF2-40B4-BE49-F238E27FC236}">
                <a16:creationId xmlns:a16="http://schemas.microsoft.com/office/drawing/2014/main" id="{DFA7B290-78A6-A70D-E678-652A1614137E}"/>
              </a:ext>
            </a:extLst>
          </p:cNvPr>
          <p:cNvSpPr txBox="1"/>
          <p:nvPr/>
        </p:nvSpPr>
        <p:spPr>
          <a:xfrm>
            <a:off x="2330882" y="3543300"/>
            <a:ext cx="1002984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s-MX" sz="3600" dirty="0"/>
              <a:t>Solución en producción con link público activo.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MX" sz="3600" dirty="0"/>
              <a:t>Web responsiva desacoplada </a:t>
            </a:r>
            <a:r>
              <a:rPr lang="es-MX" sz="3600" dirty="0" err="1"/>
              <a:t>backend</a:t>
            </a:r>
            <a:r>
              <a:rPr lang="es-MX" sz="3600" dirty="0"/>
              <a:t> y </a:t>
            </a:r>
            <a:r>
              <a:rPr lang="es-MX" sz="3600" dirty="0" err="1"/>
              <a:t>frontend</a:t>
            </a:r>
            <a:r>
              <a:rPr lang="es-MX" sz="3600" dirty="0"/>
              <a:t> funcionando.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MX" sz="3600" dirty="0"/>
              <a:t>Costo 0.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s-MX" sz="3600" dirty="0"/>
              <a:t>Valor inmediato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165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>
          <a:extLst>
            <a:ext uri="{FF2B5EF4-FFF2-40B4-BE49-F238E27FC236}">
              <a16:creationId xmlns:a16="http://schemas.microsoft.com/office/drawing/2014/main" id="{DC2C247D-85E8-926A-5BED-AD3EECED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>
            <a:extLst>
              <a:ext uri="{FF2B5EF4-FFF2-40B4-BE49-F238E27FC236}">
                <a16:creationId xmlns:a16="http://schemas.microsoft.com/office/drawing/2014/main" id="{25EA10B9-A254-2AF8-0D49-808DB1C15280}"/>
              </a:ext>
            </a:extLst>
          </p:cNvPr>
          <p:cNvSpPr txBox="1"/>
          <p:nvPr/>
        </p:nvSpPr>
        <p:spPr>
          <a:xfrm>
            <a:off x="1894800" y="2792925"/>
            <a:ext cx="77697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dirty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Objetivos de la Clase</a:t>
            </a:r>
            <a:endParaRPr sz="4000" i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9">
            <a:extLst>
              <a:ext uri="{FF2B5EF4-FFF2-40B4-BE49-F238E27FC236}">
                <a16:creationId xmlns:a16="http://schemas.microsoft.com/office/drawing/2014/main" id="{F2D8D4B2-2E60-F3C2-CE73-D9F27C5AD7B0}"/>
              </a:ext>
            </a:extLst>
          </p:cNvPr>
          <p:cNvSpPr txBox="1"/>
          <p:nvPr/>
        </p:nvSpPr>
        <p:spPr>
          <a:xfrm>
            <a:off x="1894800" y="3984675"/>
            <a:ext cx="77697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just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Entender cómo convertir habilidades técnicas en valor visible.</a:t>
            </a:r>
          </a:p>
          <a:p>
            <a:pPr marL="457200" lvl="0" indent="-457200" algn="just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Analizar un MVP real ya desplegado y operativo.</a:t>
            </a:r>
          </a:p>
          <a:p>
            <a:pPr marL="457200" lvl="0" indent="-457200" algn="just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Identificar mejoras incrementales para hacerlo más escalable.</a:t>
            </a:r>
          </a:p>
          <a:p>
            <a:pPr marL="457200" lvl="0" indent="-457200" algn="just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Diseñar una ruta de crecimiento con recursos limitados.</a:t>
            </a:r>
            <a:endParaRPr sz="2800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02591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EFE0D2D6-260B-0CF1-22C3-42E00B0A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>
            <a:extLst>
              <a:ext uri="{FF2B5EF4-FFF2-40B4-BE49-F238E27FC236}">
                <a16:creationId xmlns:a16="http://schemas.microsoft.com/office/drawing/2014/main" id="{572A46DE-94F7-EAE1-138E-4F8364F8D229}"/>
              </a:ext>
            </a:extLst>
          </p:cNvPr>
          <p:cNvSpPr txBox="1"/>
          <p:nvPr/>
        </p:nvSpPr>
        <p:spPr>
          <a:xfrm>
            <a:off x="1628769" y="5634875"/>
            <a:ext cx="8451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SzPts val="4500"/>
            </a:pPr>
            <a:r>
              <a:rPr lang="es-419" sz="4000" dirty="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Análisis del Producto Actual</a:t>
            </a:r>
            <a:endParaRPr sz="4000" b="0" i="1" u="none" strike="noStrike" cap="none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Google Shape;40;p10">
            <a:extLst>
              <a:ext uri="{FF2B5EF4-FFF2-40B4-BE49-F238E27FC236}">
                <a16:creationId xmlns:a16="http://schemas.microsoft.com/office/drawing/2014/main" id="{49FF25CE-D55C-395E-E2E7-8D41876EA76A}"/>
              </a:ext>
            </a:extLst>
          </p:cNvPr>
          <p:cNvSpPr txBox="1"/>
          <p:nvPr/>
        </p:nvSpPr>
        <p:spPr>
          <a:xfrm>
            <a:off x="1536227" y="3625375"/>
            <a:ext cx="1332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8000" dirty="0">
                <a:latin typeface="Montserrat Black"/>
                <a:ea typeface="Montserrat Black"/>
                <a:cs typeface="Montserrat Black"/>
                <a:sym typeface="Montserrat Black"/>
              </a:rPr>
              <a:t>3</a:t>
            </a:r>
            <a:r>
              <a:rPr lang="es-419" sz="8000" b="0" i="0" u="none" strike="noStrike" cap="none" dirty="0"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8000" b="0" i="1" u="none" strike="noStrike" cap="none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" name="Google Shape;41;p10">
            <a:extLst>
              <a:ext uri="{FF2B5EF4-FFF2-40B4-BE49-F238E27FC236}">
                <a16:creationId xmlns:a16="http://schemas.microsoft.com/office/drawing/2014/main" id="{F469B151-1BDD-932D-17F3-A26835A9C941}"/>
              </a:ext>
            </a:extLst>
          </p:cNvPr>
          <p:cNvCxnSpPr/>
          <p:nvPr/>
        </p:nvCxnSpPr>
        <p:spPr>
          <a:xfrm rot="10800000">
            <a:off x="1628770" y="4652125"/>
            <a:ext cx="11475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97567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/>
        </p:nvSpPr>
        <p:spPr>
          <a:xfrm>
            <a:off x="1628250" y="31314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s-MX" sz="4000" dirty="0">
                <a:latin typeface="Montserrat Black"/>
                <a:ea typeface="Montserrat Black"/>
                <a:cs typeface="Montserrat Black"/>
                <a:sym typeface="Montserrat Black"/>
              </a:rPr>
              <a:t>Qué significa “entrega de valor”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11"/>
          <p:cNvSpPr txBox="1"/>
          <p:nvPr/>
        </p:nvSpPr>
        <p:spPr>
          <a:xfrm>
            <a:off x="3605850" y="4347275"/>
            <a:ext cx="11381100" cy="28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sz="3200" dirty="0"/>
              <a:t>Que alguien use tu solución y obtenga un beneficio concreto.</a:t>
            </a:r>
          </a:p>
          <a:p>
            <a:r>
              <a:rPr lang="es-MX" sz="3200" dirty="0"/>
              <a:t>Que tu trabajo tenga evidencia: URL pública, funcionalidad, evolución.</a:t>
            </a:r>
          </a:p>
          <a:p>
            <a:r>
              <a:rPr lang="es-MX" sz="3200" dirty="0"/>
              <a:t>Que comuniques impacto: claridad, utilidad, experiencia y resultados.</a:t>
            </a:r>
          </a:p>
          <a:p>
            <a:r>
              <a:rPr lang="es-MX" sz="3200" dirty="0"/>
              <a:t>Que puedas sostener mejoras sin disparar costos.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/>
        </p:nvSpPr>
        <p:spPr>
          <a:xfrm>
            <a:off x="-196950" y="2288466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MX" sz="4000" b="1" dirty="0">
                <a:latin typeface="Montserrat Black" panose="00000A00000000000000" pitchFamily="2" charset="0"/>
              </a:rPr>
              <a:t>MVP Actual: Capacidades del Producto</a:t>
            </a:r>
          </a:p>
        </p:txBody>
      </p:sp>
      <p:sp>
        <p:nvSpPr>
          <p:cNvPr id="3" name="Google Shape;47;p11">
            <a:extLst>
              <a:ext uri="{FF2B5EF4-FFF2-40B4-BE49-F238E27FC236}">
                <a16:creationId xmlns:a16="http://schemas.microsoft.com/office/drawing/2014/main" id="{CA213B28-33E1-C7DE-2319-9438F97DE16E}"/>
              </a:ext>
            </a:extLst>
          </p:cNvPr>
          <p:cNvSpPr txBox="1"/>
          <p:nvPr/>
        </p:nvSpPr>
        <p:spPr>
          <a:xfrm>
            <a:off x="1628250" y="3677803"/>
            <a:ext cx="11381100" cy="4012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 err="1">
                <a:latin typeface="Montserrat" panose="00000500000000000000" pitchFamily="2" charset="0"/>
              </a:rPr>
              <a:t>Landing</a:t>
            </a:r>
            <a:r>
              <a:rPr lang="es-MX" sz="3200" dirty="0">
                <a:latin typeface="Montserrat" panose="00000500000000000000" pitchFamily="2" charset="0"/>
              </a:rPr>
              <a:t>/portafolio profesional accesible desde internet.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Información de perfil, experiencia y proyectos en formato web.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Arquitectura full-</a:t>
            </a:r>
            <a:r>
              <a:rPr lang="es-MX" sz="3200" dirty="0" err="1">
                <a:latin typeface="Montserrat" panose="00000500000000000000" pitchFamily="2" charset="0"/>
              </a:rPr>
              <a:t>stack</a:t>
            </a:r>
            <a:r>
              <a:rPr lang="es-MX" sz="3200" dirty="0">
                <a:latin typeface="Montserrat" panose="00000500000000000000" pitchFamily="2" charset="0"/>
              </a:rPr>
              <a:t> funcional (UI + API).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Base sólida para entrevistas técnicas y marca personal.</a:t>
            </a:r>
          </a:p>
        </p:txBody>
      </p:sp>
      <p:pic>
        <p:nvPicPr>
          <p:cNvPr id="7" name="Imagen 6" descr="Código QR&#10;&#10;El contenido generado por IA puede ser incorrecto.">
            <a:extLst>
              <a:ext uri="{FF2B5EF4-FFF2-40B4-BE49-F238E27FC236}">
                <a16:creationId xmlns:a16="http://schemas.microsoft.com/office/drawing/2014/main" id="{5483FE8F-FCB3-F8E1-D21A-FFA1D1EF4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2274" y="3677803"/>
            <a:ext cx="3543795" cy="35247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/>
        </p:nvSpPr>
        <p:spPr>
          <a:xfrm>
            <a:off x="1628250" y="142876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s-419" sz="4000" dirty="0">
                <a:latin typeface="Montserrat Black"/>
                <a:ea typeface="Montserrat Black"/>
                <a:cs typeface="Montserrat Black"/>
                <a:sym typeface="Montserrat Black"/>
              </a:rPr>
              <a:t>Arquitectura actual (simple y efectiva)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n 3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C3A09961-C747-91EE-88DD-0A6251B1E1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884" b="27065"/>
          <a:stretch>
            <a:fillRect/>
          </a:stretch>
        </p:blipFill>
        <p:spPr>
          <a:xfrm>
            <a:off x="2308701" y="2373074"/>
            <a:ext cx="13670598" cy="67056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5D836D89-3AB9-0A99-E2D5-373CFF081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116" y="2380961"/>
            <a:ext cx="15499338" cy="5772956"/>
          </a:xfrm>
          <a:prstGeom prst="rect">
            <a:avLst/>
          </a:prstGeom>
        </p:spPr>
      </p:pic>
      <p:sp>
        <p:nvSpPr>
          <p:cNvPr id="86" name="Google Shape;86;p14"/>
          <p:cNvSpPr txBox="1"/>
          <p:nvPr/>
        </p:nvSpPr>
        <p:spPr>
          <a:xfrm>
            <a:off x="6217114" y="6966718"/>
            <a:ext cx="5853772" cy="1322613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lvl="0" algn="ctr"/>
            <a:r>
              <a:rPr lang="es-PE" sz="36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Digital | Portafolio Profesional</a:t>
            </a:r>
            <a:endParaRPr sz="3600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1628250" y="142876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s-419" sz="4000" dirty="0">
                <a:latin typeface="Montserrat Black"/>
                <a:ea typeface="Montserrat Black"/>
                <a:cs typeface="Montserrat Black"/>
                <a:sym typeface="Montserrat Black"/>
              </a:rPr>
              <a:t>Valor para empleabilidad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86;p14">
            <a:extLst>
              <a:ext uri="{FF2B5EF4-FFF2-40B4-BE49-F238E27FC236}">
                <a16:creationId xmlns:a16="http://schemas.microsoft.com/office/drawing/2014/main" id="{5F2CA915-90CD-38DF-1DA6-78F169704EBD}"/>
              </a:ext>
            </a:extLst>
          </p:cNvPr>
          <p:cNvSpPr txBox="1"/>
          <p:nvPr/>
        </p:nvSpPr>
        <p:spPr>
          <a:xfrm>
            <a:off x="6217114" y="8630017"/>
            <a:ext cx="5853772" cy="1322613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lvl="0" algn="ctr"/>
            <a:r>
              <a:rPr lang="es-PE" sz="36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us-01-portafolio-profesional.md</a:t>
            </a:r>
            <a:endParaRPr sz="3600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/>
        </p:nvSpPr>
        <p:spPr>
          <a:xfrm>
            <a:off x="1634450" y="5644025"/>
            <a:ext cx="8451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SzPts val="4500"/>
            </a:pPr>
            <a:r>
              <a:rPr lang="es-419" sz="4000" dirty="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Estrategia de Crecimiento</a:t>
            </a:r>
            <a:endParaRPr sz="4000" b="0" i="1" u="none" strike="noStrike" cap="none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1536227" y="3625375"/>
            <a:ext cx="1332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8000" b="0" i="0" u="none" strike="noStrike" cap="none" dirty="0">
                <a:latin typeface="Montserrat Black"/>
                <a:ea typeface="Montserrat Black"/>
                <a:cs typeface="Montserrat Black"/>
                <a:sym typeface="Montserrat Black"/>
              </a:rPr>
              <a:t>4.</a:t>
            </a:r>
            <a:endParaRPr sz="8000" b="0" i="1" u="none" strike="noStrike" cap="none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5" name="Google Shape;95;p15"/>
          <p:cNvCxnSpPr/>
          <p:nvPr/>
        </p:nvCxnSpPr>
        <p:spPr>
          <a:xfrm rot="10800000">
            <a:off x="1628770" y="4652125"/>
            <a:ext cx="11475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>
          <a:extLst>
            <a:ext uri="{FF2B5EF4-FFF2-40B4-BE49-F238E27FC236}">
              <a16:creationId xmlns:a16="http://schemas.microsoft.com/office/drawing/2014/main" id="{B5DD03A0-94AE-B1C3-C469-7C330001E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07BC30AD-9A04-EB63-66CD-24A8E9AE717B}"/>
              </a:ext>
            </a:extLst>
          </p:cNvPr>
          <p:cNvSpPr txBox="1"/>
          <p:nvPr/>
        </p:nvSpPr>
        <p:spPr>
          <a:xfrm>
            <a:off x="1628250" y="3170209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MX" sz="4000" b="1" dirty="0">
                <a:latin typeface="Montserrat Black" panose="00000A00000000000000" pitchFamily="2" charset="0"/>
              </a:rPr>
              <a:t>Evolución planeada del producto</a:t>
            </a:r>
          </a:p>
        </p:txBody>
      </p:sp>
      <p:sp>
        <p:nvSpPr>
          <p:cNvPr id="3" name="Google Shape;47;p11">
            <a:extLst>
              <a:ext uri="{FF2B5EF4-FFF2-40B4-BE49-F238E27FC236}">
                <a16:creationId xmlns:a16="http://schemas.microsoft.com/office/drawing/2014/main" id="{0977A615-BA3D-FEBF-4958-066964912C9E}"/>
              </a:ext>
            </a:extLst>
          </p:cNvPr>
          <p:cNvSpPr txBox="1"/>
          <p:nvPr/>
        </p:nvSpPr>
        <p:spPr>
          <a:xfrm>
            <a:off x="3453450" y="4584701"/>
            <a:ext cx="11381100" cy="2937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Exportar el CV clásico (PDF) desde la plataforma.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Habilitar acceso a documentación técnica propia.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Integrar portafolio de aplicaciones y casos reales.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Convertir la web en centro de presentación profesional.</a:t>
            </a:r>
          </a:p>
        </p:txBody>
      </p:sp>
    </p:spTree>
    <p:extLst>
      <p:ext uri="{BB962C8B-B14F-4D97-AF65-F5344CB8AC3E}">
        <p14:creationId xmlns:p14="http://schemas.microsoft.com/office/powerpoint/2010/main" val="2144109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>
          <a:extLst>
            <a:ext uri="{FF2B5EF4-FFF2-40B4-BE49-F238E27FC236}">
              <a16:creationId xmlns:a16="http://schemas.microsoft.com/office/drawing/2014/main" id="{D60F3315-CE2E-B0B8-4F4D-6CCB4F8F0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04A10456-3E76-1153-5DF8-33E0785DFF42}"/>
              </a:ext>
            </a:extLst>
          </p:cNvPr>
          <p:cNvSpPr txBox="1"/>
          <p:nvPr/>
        </p:nvSpPr>
        <p:spPr>
          <a:xfrm>
            <a:off x="1628250" y="3170209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MX" sz="4000" b="1" dirty="0">
                <a:latin typeface="Montserrat Black" panose="00000A00000000000000" pitchFamily="2" charset="0"/>
              </a:rPr>
              <a:t>Mejora continua por fases</a:t>
            </a:r>
          </a:p>
        </p:txBody>
      </p:sp>
      <p:sp>
        <p:nvSpPr>
          <p:cNvPr id="3" name="Google Shape;47;p11">
            <a:extLst>
              <a:ext uri="{FF2B5EF4-FFF2-40B4-BE49-F238E27FC236}">
                <a16:creationId xmlns:a16="http://schemas.microsoft.com/office/drawing/2014/main" id="{D123BE0B-0D32-17E3-E03A-8FFC43BDF81E}"/>
              </a:ext>
            </a:extLst>
          </p:cNvPr>
          <p:cNvSpPr txBox="1"/>
          <p:nvPr/>
        </p:nvSpPr>
        <p:spPr>
          <a:xfrm>
            <a:off x="3453450" y="4584701"/>
            <a:ext cx="11381100" cy="2937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Exportar el CV clásico (PDF) desde la plataforma.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Habilitar acceso a documentación técnica propia.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Integrar portafolio de aplicaciones y casos reales.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Convertir la web en centro de presentación profesional.</a:t>
            </a:r>
          </a:p>
        </p:txBody>
      </p:sp>
    </p:spTree>
    <p:extLst>
      <p:ext uri="{BB962C8B-B14F-4D97-AF65-F5344CB8AC3E}">
        <p14:creationId xmlns:p14="http://schemas.microsoft.com/office/powerpoint/2010/main" val="243126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FC87EDB8-E92D-20A3-67A1-F1256B50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0">
            <a:extLst>
              <a:ext uri="{FF2B5EF4-FFF2-40B4-BE49-F238E27FC236}">
                <a16:creationId xmlns:a16="http://schemas.microsoft.com/office/drawing/2014/main" id="{6B0221FF-3340-00D5-054B-4F6D7F68F2C4}"/>
              </a:ext>
            </a:extLst>
          </p:cNvPr>
          <p:cNvGrpSpPr/>
          <p:nvPr/>
        </p:nvGrpSpPr>
        <p:grpSpPr>
          <a:xfrm>
            <a:off x="8403911" y="5081588"/>
            <a:ext cx="1547492" cy="1135329"/>
            <a:chOff x="5331913" y="3413947"/>
            <a:chExt cx="347143" cy="254684"/>
          </a:xfrm>
        </p:grpSpPr>
        <p:sp>
          <p:nvSpPr>
            <p:cNvPr id="158" name="Google Shape;158;p20">
              <a:extLst>
                <a:ext uri="{FF2B5EF4-FFF2-40B4-BE49-F238E27FC236}">
                  <a16:creationId xmlns:a16="http://schemas.microsoft.com/office/drawing/2014/main" id="{D9AAA0D8-6EE3-B581-488B-3393731A5895}"/>
                </a:ext>
              </a:extLst>
            </p:cNvPr>
            <p:cNvSpPr/>
            <p:nvPr/>
          </p:nvSpPr>
          <p:spPr>
            <a:xfrm>
              <a:off x="5597163" y="3523083"/>
              <a:ext cx="43222" cy="15564"/>
            </a:xfrm>
            <a:custGeom>
              <a:avLst/>
              <a:gdLst/>
              <a:ahLst/>
              <a:cxnLst/>
              <a:rect l="l" t="t" r="r" b="b"/>
              <a:pathLst>
                <a:path w="1358" h="489" extrusionOk="0">
                  <a:moveTo>
                    <a:pt x="167" y="0"/>
                  </a:moveTo>
                  <a:cubicBezTo>
                    <a:pt x="84" y="0"/>
                    <a:pt x="0" y="71"/>
                    <a:pt x="0" y="167"/>
                  </a:cubicBezTo>
                  <a:cubicBezTo>
                    <a:pt x="0" y="250"/>
                    <a:pt x="84" y="322"/>
                    <a:pt x="167" y="322"/>
                  </a:cubicBezTo>
                  <a:cubicBezTo>
                    <a:pt x="346" y="322"/>
                    <a:pt x="870" y="357"/>
                    <a:pt x="1120" y="476"/>
                  </a:cubicBezTo>
                  <a:cubicBezTo>
                    <a:pt x="1155" y="488"/>
                    <a:pt x="1167" y="488"/>
                    <a:pt x="1191" y="488"/>
                  </a:cubicBezTo>
                  <a:cubicBezTo>
                    <a:pt x="1251" y="488"/>
                    <a:pt x="1310" y="464"/>
                    <a:pt x="1346" y="405"/>
                  </a:cubicBezTo>
                  <a:cubicBezTo>
                    <a:pt x="1358" y="322"/>
                    <a:pt x="1334" y="226"/>
                    <a:pt x="1251" y="191"/>
                  </a:cubicBezTo>
                  <a:cubicBezTo>
                    <a:pt x="882" y="12"/>
                    <a:pt x="203" y="0"/>
                    <a:pt x="1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0">
              <a:extLst>
                <a:ext uri="{FF2B5EF4-FFF2-40B4-BE49-F238E27FC236}">
                  <a16:creationId xmlns:a16="http://schemas.microsoft.com/office/drawing/2014/main" id="{DE8FF26C-8AA3-6C00-A88D-6570EEF0AFB5}"/>
                </a:ext>
              </a:extLst>
            </p:cNvPr>
            <p:cNvSpPr/>
            <p:nvPr/>
          </p:nvSpPr>
          <p:spPr>
            <a:xfrm>
              <a:off x="5331913" y="3413947"/>
              <a:ext cx="347143" cy="253538"/>
            </a:xfrm>
            <a:custGeom>
              <a:avLst/>
              <a:gdLst/>
              <a:ahLst/>
              <a:cxnLst/>
              <a:rect l="l" t="t" r="r" b="b"/>
              <a:pathLst>
                <a:path w="10907" h="7966" extrusionOk="0">
                  <a:moveTo>
                    <a:pt x="7168" y="357"/>
                  </a:moveTo>
                  <a:lnTo>
                    <a:pt x="7168" y="1893"/>
                  </a:lnTo>
                  <a:cubicBezTo>
                    <a:pt x="7168" y="2131"/>
                    <a:pt x="7120" y="2357"/>
                    <a:pt x="7013" y="2560"/>
                  </a:cubicBezTo>
                  <a:cubicBezTo>
                    <a:pt x="7001" y="2584"/>
                    <a:pt x="7001" y="2608"/>
                    <a:pt x="7001" y="2643"/>
                  </a:cubicBezTo>
                  <a:lnTo>
                    <a:pt x="7001" y="3084"/>
                  </a:lnTo>
                  <a:cubicBezTo>
                    <a:pt x="7001" y="3512"/>
                    <a:pt x="6822" y="3917"/>
                    <a:pt x="6513" y="4203"/>
                  </a:cubicBezTo>
                  <a:cubicBezTo>
                    <a:pt x="6465" y="4227"/>
                    <a:pt x="6429" y="4274"/>
                    <a:pt x="6394" y="4310"/>
                  </a:cubicBezTo>
                  <a:cubicBezTo>
                    <a:pt x="6111" y="4514"/>
                    <a:pt x="5775" y="4621"/>
                    <a:pt x="5415" y="4621"/>
                  </a:cubicBezTo>
                  <a:cubicBezTo>
                    <a:pt x="5396" y="4621"/>
                    <a:pt x="5377" y="4620"/>
                    <a:pt x="5358" y="4620"/>
                  </a:cubicBezTo>
                  <a:cubicBezTo>
                    <a:pt x="4536" y="4560"/>
                    <a:pt x="3917" y="3858"/>
                    <a:pt x="3917" y="3024"/>
                  </a:cubicBezTo>
                  <a:lnTo>
                    <a:pt x="3917" y="2643"/>
                  </a:lnTo>
                  <a:cubicBezTo>
                    <a:pt x="3917" y="2608"/>
                    <a:pt x="3917" y="2596"/>
                    <a:pt x="3905" y="2560"/>
                  </a:cubicBezTo>
                  <a:cubicBezTo>
                    <a:pt x="3798" y="2357"/>
                    <a:pt x="3751" y="2131"/>
                    <a:pt x="3751" y="1893"/>
                  </a:cubicBezTo>
                  <a:lnTo>
                    <a:pt x="3751" y="1548"/>
                  </a:lnTo>
                  <a:cubicBezTo>
                    <a:pt x="3751" y="893"/>
                    <a:pt x="4286" y="357"/>
                    <a:pt x="4941" y="357"/>
                  </a:cubicBezTo>
                  <a:close/>
                  <a:moveTo>
                    <a:pt x="10013" y="2905"/>
                  </a:moveTo>
                  <a:lnTo>
                    <a:pt x="10013" y="3560"/>
                  </a:lnTo>
                  <a:cubicBezTo>
                    <a:pt x="10013" y="3667"/>
                    <a:pt x="9989" y="3774"/>
                    <a:pt x="9942" y="3870"/>
                  </a:cubicBezTo>
                  <a:lnTo>
                    <a:pt x="9870" y="4036"/>
                  </a:lnTo>
                  <a:cubicBezTo>
                    <a:pt x="9858" y="4048"/>
                    <a:pt x="9858" y="4084"/>
                    <a:pt x="9858" y="4108"/>
                  </a:cubicBezTo>
                  <a:lnTo>
                    <a:pt x="9858" y="4453"/>
                  </a:lnTo>
                  <a:cubicBezTo>
                    <a:pt x="9870" y="4679"/>
                    <a:pt x="9763" y="4882"/>
                    <a:pt x="9597" y="5048"/>
                  </a:cubicBezTo>
                  <a:cubicBezTo>
                    <a:pt x="9451" y="5205"/>
                    <a:pt x="9244" y="5288"/>
                    <a:pt x="9022" y="5288"/>
                  </a:cubicBezTo>
                  <a:cubicBezTo>
                    <a:pt x="9007" y="5288"/>
                    <a:pt x="8992" y="5287"/>
                    <a:pt x="8977" y="5286"/>
                  </a:cubicBezTo>
                  <a:cubicBezTo>
                    <a:pt x="8513" y="5275"/>
                    <a:pt x="8144" y="4870"/>
                    <a:pt x="8144" y="4382"/>
                  </a:cubicBezTo>
                  <a:lnTo>
                    <a:pt x="8144" y="4084"/>
                  </a:lnTo>
                  <a:cubicBezTo>
                    <a:pt x="8144" y="4048"/>
                    <a:pt x="8144" y="4036"/>
                    <a:pt x="8132" y="4012"/>
                  </a:cubicBezTo>
                  <a:lnTo>
                    <a:pt x="8025" y="3810"/>
                  </a:lnTo>
                  <a:cubicBezTo>
                    <a:pt x="8002" y="3741"/>
                    <a:pt x="7968" y="3672"/>
                    <a:pt x="7966" y="3582"/>
                  </a:cubicBezTo>
                  <a:lnTo>
                    <a:pt x="7966" y="3582"/>
                  </a:lnTo>
                  <a:cubicBezTo>
                    <a:pt x="7973" y="3196"/>
                    <a:pt x="8279" y="2905"/>
                    <a:pt x="8644" y="2905"/>
                  </a:cubicBezTo>
                  <a:close/>
                  <a:moveTo>
                    <a:pt x="1727" y="2893"/>
                  </a:moveTo>
                  <a:cubicBezTo>
                    <a:pt x="2000" y="2893"/>
                    <a:pt x="2250" y="3000"/>
                    <a:pt x="2441" y="3191"/>
                  </a:cubicBezTo>
                  <a:cubicBezTo>
                    <a:pt x="2643" y="3381"/>
                    <a:pt x="2739" y="3655"/>
                    <a:pt x="2774" y="3929"/>
                  </a:cubicBezTo>
                  <a:cubicBezTo>
                    <a:pt x="2774" y="4024"/>
                    <a:pt x="2786" y="4132"/>
                    <a:pt x="2786" y="4227"/>
                  </a:cubicBezTo>
                  <a:lnTo>
                    <a:pt x="2786" y="4262"/>
                  </a:lnTo>
                  <a:cubicBezTo>
                    <a:pt x="2608" y="3989"/>
                    <a:pt x="2358" y="3798"/>
                    <a:pt x="2000" y="3691"/>
                  </a:cubicBezTo>
                  <a:cubicBezTo>
                    <a:pt x="1753" y="3615"/>
                    <a:pt x="1520" y="3607"/>
                    <a:pt x="1431" y="3607"/>
                  </a:cubicBezTo>
                  <a:cubicBezTo>
                    <a:pt x="1409" y="3607"/>
                    <a:pt x="1396" y="3608"/>
                    <a:pt x="1393" y="3608"/>
                  </a:cubicBezTo>
                  <a:cubicBezTo>
                    <a:pt x="1346" y="3608"/>
                    <a:pt x="1310" y="3620"/>
                    <a:pt x="1286" y="3655"/>
                  </a:cubicBezTo>
                  <a:lnTo>
                    <a:pt x="1000" y="3953"/>
                  </a:lnTo>
                  <a:cubicBezTo>
                    <a:pt x="941" y="4012"/>
                    <a:pt x="941" y="4108"/>
                    <a:pt x="1000" y="4167"/>
                  </a:cubicBezTo>
                  <a:cubicBezTo>
                    <a:pt x="1030" y="4197"/>
                    <a:pt x="1072" y="4212"/>
                    <a:pt x="1113" y="4212"/>
                  </a:cubicBezTo>
                  <a:cubicBezTo>
                    <a:pt x="1155" y="4212"/>
                    <a:pt x="1197" y="4197"/>
                    <a:pt x="1226" y="4167"/>
                  </a:cubicBezTo>
                  <a:lnTo>
                    <a:pt x="1465" y="3917"/>
                  </a:lnTo>
                  <a:cubicBezTo>
                    <a:pt x="1667" y="3929"/>
                    <a:pt x="2322" y="4012"/>
                    <a:pt x="2572" y="4572"/>
                  </a:cubicBezTo>
                  <a:cubicBezTo>
                    <a:pt x="2500" y="4989"/>
                    <a:pt x="2143" y="5298"/>
                    <a:pt x="1727" y="5298"/>
                  </a:cubicBezTo>
                  <a:cubicBezTo>
                    <a:pt x="1250" y="5298"/>
                    <a:pt x="869" y="4917"/>
                    <a:pt x="869" y="4441"/>
                  </a:cubicBezTo>
                  <a:cubicBezTo>
                    <a:pt x="869" y="4346"/>
                    <a:pt x="798" y="4274"/>
                    <a:pt x="703" y="4274"/>
                  </a:cubicBezTo>
                  <a:lnTo>
                    <a:pt x="679" y="4274"/>
                  </a:lnTo>
                  <a:lnTo>
                    <a:pt x="679" y="4227"/>
                  </a:lnTo>
                  <a:cubicBezTo>
                    <a:pt x="679" y="4132"/>
                    <a:pt x="679" y="4024"/>
                    <a:pt x="691" y="3929"/>
                  </a:cubicBezTo>
                  <a:cubicBezTo>
                    <a:pt x="703" y="3655"/>
                    <a:pt x="822" y="3381"/>
                    <a:pt x="1012" y="3191"/>
                  </a:cubicBezTo>
                  <a:cubicBezTo>
                    <a:pt x="1215" y="3000"/>
                    <a:pt x="1465" y="2893"/>
                    <a:pt x="1727" y="2893"/>
                  </a:cubicBezTo>
                  <a:close/>
                  <a:moveTo>
                    <a:pt x="643" y="4882"/>
                  </a:moveTo>
                  <a:cubicBezTo>
                    <a:pt x="726" y="5096"/>
                    <a:pt x="881" y="5275"/>
                    <a:pt x="1060" y="5405"/>
                  </a:cubicBezTo>
                  <a:lnTo>
                    <a:pt x="1060" y="5596"/>
                  </a:lnTo>
                  <a:cubicBezTo>
                    <a:pt x="762" y="5501"/>
                    <a:pt x="619" y="5346"/>
                    <a:pt x="560" y="5275"/>
                  </a:cubicBezTo>
                  <a:cubicBezTo>
                    <a:pt x="595" y="5155"/>
                    <a:pt x="631" y="5036"/>
                    <a:pt x="643" y="4882"/>
                  </a:cubicBezTo>
                  <a:close/>
                  <a:moveTo>
                    <a:pt x="2798" y="4882"/>
                  </a:moveTo>
                  <a:cubicBezTo>
                    <a:pt x="2810" y="5024"/>
                    <a:pt x="2846" y="5155"/>
                    <a:pt x="2893" y="5263"/>
                  </a:cubicBezTo>
                  <a:cubicBezTo>
                    <a:pt x="2834" y="5346"/>
                    <a:pt x="2679" y="5477"/>
                    <a:pt x="2381" y="5596"/>
                  </a:cubicBezTo>
                  <a:lnTo>
                    <a:pt x="2381" y="5405"/>
                  </a:lnTo>
                  <a:cubicBezTo>
                    <a:pt x="2560" y="5275"/>
                    <a:pt x="2715" y="5096"/>
                    <a:pt x="2798" y="4882"/>
                  </a:cubicBezTo>
                  <a:close/>
                  <a:moveTo>
                    <a:pt x="6299" y="4727"/>
                  </a:moveTo>
                  <a:lnTo>
                    <a:pt x="6299" y="5001"/>
                  </a:lnTo>
                  <a:lnTo>
                    <a:pt x="5453" y="5596"/>
                  </a:lnTo>
                  <a:lnTo>
                    <a:pt x="4584" y="5024"/>
                  </a:lnTo>
                  <a:lnTo>
                    <a:pt x="4584" y="4727"/>
                  </a:lnTo>
                  <a:cubicBezTo>
                    <a:pt x="4810" y="4846"/>
                    <a:pt x="5060" y="4917"/>
                    <a:pt x="5322" y="4929"/>
                  </a:cubicBezTo>
                  <a:lnTo>
                    <a:pt x="5441" y="4929"/>
                  </a:lnTo>
                  <a:cubicBezTo>
                    <a:pt x="5739" y="4929"/>
                    <a:pt x="6037" y="4858"/>
                    <a:pt x="6299" y="4727"/>
                  </a:cubicBezTo>
                  <a:close/>
                  <a:moveTo>
                    <a:pt x="9347" y="5572"/>
                  </a:moveTo>
                  <a:lnTo>
                    <a:pt x="9347" y="5632"/>
                  </a:lnTo>
                  <a:cubicBezTo>
                    <a:pt x="9347" y="5656"/>
                    <a:pt x="9347" y="5691"/>
                    <a:pt x="9358" y="5715"/>
                  </a:cubicBezTo>
                  <a:lnTo>
                    <a:pt x="9001" y="6072"/>
                  </a:lnTo>
                  <a:lnTo>
                    <a:pt x="8644" y="5715"/>
                  </a:lnTo>
                  <a:cubicBezTo>
                    <a:pt x="8644" y="5691"/>
                    <a:pt x="8668" y="5656"/>
                    <a:pt x="8668" y="5632"/>
                  </a:cubicBezTo>
                  <a:lnTo>
                    <a:pt x="8668" y="5572"/>
                  </a:lnTo>
                  <a:cubicBezTo>
                    <a:pt x="8763" y="5596"/>
                    <a:pt x="8870" y="5632"/>
                    <a:pt x="8977" y="5632"/>
                  </a:cubicBezTo>
                  <a:lnTo>
                    <a:pt x="9001" y="5632"/>
                  </a:lnTo>
                  <a:cubicBezTo>
                    <a:pt x="9120" y="5632"/>
                    <a:pt x="9239" y="5620"/>
                    <a:pt x="9347" y="5572"/>
                  </a:cubicBezTo>
                  <a:close/>
                  <a:moveTo>
                    <a:pt x="2108" y="5572"/>
                  </a:moveTo>
                  <a:lnTo>
                    <a:pt x="2108" y="5739"/>
                  </a:lnTo>
                  <a:cubicBezTo>
                    <a:pt x="2108" y="5798"/>
                    <a:pt x="2119" y="5834"/>
                    <a:pt x="2143" y="5882"/>
                  </a:cubicBezTo>
                  <a:lnTo>
                    <a:pt x="1965" y="6013"/>
                  </a:lnTo>
                  <a:cubicBezTo>
                    <a:pt x="1899" y="6084"/>
                    <a:pt x="1816" y="6120"/>
                    <a:pt x="1731" y="6120"/>
                  </a:cubicBezTo>
                  <a:cubicBezTo>
                    <a:pt x="1646" y="6120"/>
                    <a:pt x="1560" y="6084"/>
                    <a:pt x="1488" y="6013"/>
                  </a:cubicBezTo>
                  <a:lnTo>
                    <a:pt x="1346" y="5882"/>
                  </a:lnTo>
                  <a:cubicBezTo>
                    <a:pt x="1369" y="5834"/>
                    <a:pt x="1381" y="5775"/>
                    <a:pt x="1381" y="5739"/>
                  </a:cubicBezTo>
                  <a:lnTo>
                    <a:pt x="1381" y="5572"/>
                  </a:lnTo>
                  <a:cubicBezTo>
                    <a:pt x="1488" y="5596"/>
                    <a:pt x="1607" y="5632"/>
                    <a:pt x="1750" y="5632"/>
                  </a:cubicBezTo>
                  <a:cubicBezTo>
                    <a:pt x="1857" y="5632"/>
                    <a:pt x="1977" y="5608"/>
                    <a:pt x="2108" y="5572"/>
                  </a:cubicBezTo>
                  <a:close/>
                  <a:moveTo>
                    <a:pt x="4465" y="5298"/>
                  </a:moveTo>
                  <a:lnTo>
                    <a:pt x="5215" y="5810"/>
                  </a:lnTo>
                  <a:lnTo>
                    <a:pt x="4810" y="6215"/>
                  </a:lnTo>
                  <a:lnTo>
                    <a:pt x="4798" y="6215"/>
                  </a:lnTo>
                  <a:lnTo>
                    <a:pt x="4310" y="5465"/>
                  </a:lnTo>
                  <a:lnTo>
                    <a:pt x="4465" y="5298"/>
                  </a:lnTo>
                  <a:close/>
                  <a:moveTo>
                    <a:pt x="6429" y="5298"/>
                  </a:moveTo>
                  <a:lnTo>
                    <a:pt x="6596" y="5465"/>
                  </a:lnTo>
                  <a:lnTo>
                    <a:pt x="6108" y="6215"/>
                  </a:lnTo>
                  <a:lnTo>
                    <a:pt x="6096" y="6215"/>
                  </a:lnTo>
                  <a:lnTo>
                    <a:pt x="5691" y="5810"/>
                  </a:lnTo>
                  <a:lnTo>
                    <a:pt x="6429" y="5298"/>
                  </a:lnTo>
                  <a:close/>
                  <a:moveTo>
                    <a:pt x="4905" y="0"/>
                  </a:moveTo>
                  <a:cubicBezTo>
                    <a:pt x="4072" y="0"/>
                    <a:pt x="3381" y="691"/>
                    <a:pt x="3381" y="1524"/>
                  </a:cubicBezTo>
                  <a:lnTo>
                    <a:pt x="3381" y="1869"/>
                  </a:lnTo>
                  <a:cubicBezTo>
                    <a:pt x="3381" y="2131"/>
                    <a:pt x="3441" y="2381"/>
                    <a:pt x="3548" y="2643"/>
                  </a:cubicBezTo>
                  <a:lnTo>
                    <a:pt x="3548" y="3000"/>
                  </a:lnTo>
                  <a:cubicBezTo>
                    <a:pt x="3548" y="3596"/>
                    <a:pt x="3810" y="4132"/>
                    <a:pt x="4227" y="4465"/>
                  </a:cubicBezTo>
                  <a:lnTo>
                    <a:pt x="4227" y="5001"/>
                  </a:lnTo>
                  <a:lnTo>
                    <a:pt x="3929" y="5322"/>
                  </a:lnTo>
                  <a:cubicBezTo>
                    <a:pt x="3905" y="5346"/>
                    <a:pt x="3893" y="5394"/>
                    <a:pt x="3893" y="5441"/>
                  </a:cubicBezTo>
                  <a:lnTo>
                    <a:pt x="2905" y="5798"/>
                  </a:lnTo>
                  <a:cubicBezTo>
                    <a:pt x="2834" y="5822"/>
                    <a:pt x="2774" y="5858"/>
                    <a:pt x="2715" y="5894"/>
                  </a:cubicBezTo>
                  <a:lnTo>
                    <a:pt x="2560" y="5822"/>
                  </a:lnTo>
                  <a:cubicBezTo>
                    <a:pt x="3024" y="5632"/>
                    <a:pt x="3155" y="5346"/>
                    <a:pt x="3179" y="5334"/>
                  </a:cubicBezTo>
                  <a:cubicBezTo>
                    <a:pt x="3203" y="5286"/>
                    <a:pt x="3203" y="5227"/>
                    <a:pt x="3179" y="5179"/>
                  </a:cubicBezTo>
                  <a:cubicBezTo>
                    <a:pt x="3060" y="4965"/>
                    <a:pt x="3036" y="4524"/>
                    <a:pt x="3036" y="4203"/>
                  </a:cubicBezTo>
                  <a:cubicBezTo>
                    <a:pt x="3036" y="4084"/>
                    <a:pt x="3036" y="3977"/>
                    <a:pt x="3024" y="3893"/>
                  </a:cubicBezTo>
                  <a:cubicBezTo>
                    <a:pt x="2965" y="3131"/>
                    <a:pt x="2405" y="2548"/>
                    <a:pt x="1691" y="2548"/>
                  </a:cubicBezTo>
                  <a:cubicBezTo>
                    <a:pt x="976" y="2548"/>
                    <a:pt x="393" y="3131"/>
                    <a:pt x="345" y="3893"/>
                  </a:cubicBezTo>
                  <a:cubicBezTo>
                    <a:pt x="345" y="3977"/>
                    <a:pt x="333" y="4084"/>
                    <a:pt x="333" y="4203"/>
                  </a:cubicBezTo>
                  <a:cubicBezTo>
                    <a:pt x="322" y="4548"/>
                    <a:pt x="298" y="4965"/>
                    <a:pt x="203" y="5179"/>
                  </a:cubicBezTo>
                  <a:cubicBezTo>
                    <a:pt x="167" y="5227"/>
                    <a:pt x="167" y="5286"/>
                    <a:pt x="203" y="5334"/>
                  </a:cubicBezTo>
                  <a:cubicBezTo>
                    <a:pt x="203" y="5346"/>
                    <a:pt x="345" y="5632"/>
                    <a:pt x="810" y="5822"/>
                  </a:cubicBezTo>
                  <a:lnTo>
                    <a:pt x="369" y="6037"/>
                  </a:lnTo>
                  <a:cubicBezTo>
                    <a:pt x="155" y="6156"/>
                    <a:pt x="0" y="6370"/>
                    <a:pt x="0" y="6632"/>
                  </a:cubicBezTo>
                  <a:lnTo>
                    <a:pt x="0" y="7799"/>
                  </a:lnTo>
                  <a:cubicBezTo>
                    <a:pt x="0" y="7894"/>
                    <a:pt x="72" y="7965"/>
                    <a:pt x="167" y="7965"/>
                  </a:cubicBezTo>
                  <a:cubicBezTo>
                    <a:pt x="250" y="7965"/>
                    <a:pt x="333" y="7894"/>
                    <a:pt x="333" y="7799"/>
                  </a:cubicBezTo>
                  <a:lnTo>
                    <a:pt x="333" y="6632"/>
                  </a:lnTo>
                  <a:cubicBezTo>
                    <a:pt x="333" y="6489"/>
                    <a:pt x="405" y="6370"/>
                    <a:pt x="524" y="6310"/>
                  </a:cubicBezTo>
                  <a:lnTo>
                    <a:pt x="1060" y="6048"/>
                  </a:lnTo>
                  <a:lnTo>
                    <a:pt x="1238" y="6227"/>
                  </a:lnTo>
                  <a:cubicBezTo>
                    <a:pt x="1369" y="6346"/>
                    <a:pt x="1536" y="6406"/>
                    <a:pt x="1703" y="6406"/>
                  </a:cubicBezTo>
                  <a:cubicBezTo>
                    <a:pt x="1857" y="6406"/>
                    <a:pt x="2024" y="6346"/>
                    <a:pt x="2155" y="6227"/>
                  </a:cubicBezTo>
                  <a:lnTo>
                    <a:pt x="2334" y="6048"/>
                  </a:lnTo>
                  <a:lnTo>
                    <a:pt x="2512" y="6132"/>
                  </a:lnTo>
                  <a:cubicBezTo>
                    <a:pt x="2441" y="6275"/>
                    <a:pt x="2381" y="6418"/>
                    <a:pt x="2381" y="6584"/>
                  </a:cubicBezTo>
                  <a:lnTo>
                    <a:pt x="2381" y="7799"/>
                  </a:lnTo>
                  <a:cubicBezTo>
                    <a:pt x="2381" y="7894"/>
                    <a:pt x="2453" y="7965"/>
                    <a:pt x="2548" y="7965"/>
                  </a:cubicBezTo>
                  <a:cubicBezTo>
                    <a:pt x="2631" y="7965"/>
                    <a:pt x="2715" y="7894"/>
                    <a:pt x="2715" y="7799"/>
                  </a:cubicBezTo>
                  <a:lnTo>
                    <a:pt x="2715" y="6584"/>
                  </a:lnTo>
                  <a:cubicBezTo>
                    <a:pt x="2715" y="6358"/>
                    <a:pt x="2846" y="6167"/>
                    <a:pt x="3048" y="6096"/>
                  </a:cubicBezTo>
                  <a:lnTo>
                    <a:pt x="4084" y="5715"/>
                  </a:lnTo>
                  <a:lnTo>
                    <a:pt x="4513" y="6358"/>
                  </a:lnTo>
                  <a:cubicBezTo>
                    <a:pt x="4572" y="6453"/>
                    <a:pt x="4655" y="6489"/>
                    <a:pt x="4751" y="6513"/>
                  </a:cubicBezTo>
                  <a:lnTo>
                    <a:pt x="4775" y="6513"/>
                  </a:lnTo>
                  <a:cubicBezTo>
                    <a:pt x="4870" y="6513"/>
                    <a:pt x="4941" y="6477"/>
                    <a:pt x="5013" y="6418"/>
                  </a:cubicBezTo>
                  <a:lnTo>
                    <a:pt x="5286" y="6156"/>
                  </a:lnTo>
                  <a:lnTo>
                    <a:pt x="5286" y="7799"/>
                  </a:lnTo>
                  <a:cubicBezTo>
                    <a:pt x="5286" y="7894"/>
                    <a:pt x="5358" y="7965"/>
                    <a:pt x="5453" y="7965"/>
                  </a:cubicBezTo>
                  <a:cubicBezTo>
                    <a:pt x="5537" y="7965"/>
                    <a:pt x="5608" y="7894"/>
                    <a:pt x="5608" y="7799"/>
                  </a:cubicBezTo>
                  <a:lnTo>
                    <a:pt x="5608" y="6156"/>
                  </a:lnTo>
                  <a:lnTo>
                    <a:pt x="5882" y="6418"/>
                  </a:lnTo>
                  <a:cubicBezTo>
                    <a:pt x="5941" y="6477"/>
                    <a:pt x="6025" y="6513"/>
                    <a:pt x="6120" y="6513"/>
                  </a:cubicBezTo>
                  <a:lnTo>
                    <a:pt x="6144" y="6513"/>
                  </a:lnTo>
                  <a:cubicBezTo>
                    <a:pt x="6251" y="6489"/>
                    <a:pt x="6322" y="6453"/>
                    <a:pt x="6382" y="6358"/>
                  </a:cubicBezTo>
                  <a:lnTo>
                    <a:pt x="6822" y="5715"/>
                  </a:lnTo>
                  <a:lnTo>
                    <a:pt x="7846" y="6096"/>
                  </a:lnTo>
                  <a:cubicBezTo>
                    <a:pt x="8049" y="6167"/>
                    <a:pt x="8192" y="6358"/>
                    <a:pt x="8192" y="6584"/>
                  </a:cubicBezTo>
                  <a:lnTo>
                    <a:pt x="8192" y="7799"/>
                  </a:lnTo>
                  <a:cubicBezTo>
                    <a:pt x="8192" y="7894"/>
                    <a:pt x="8263" y="7965"/>
                    <a:pt x="8346" y="7965"/>
                  </a:cubicBezTo>
                  <a:cubicBezTo>
                    <a:pt x="8442" y="7965"/>
                    <a:pt x="8513" y="7894"/>
                    <a:pt x="8513" y="7799"/>
                  </a:cubicBezTo>
                  <a:lnTo>
                    <a:pt x="8513" y="6584"/>
                  </a:lnTo>
                  <a:cubicBezTo>
                    <a:pt x="8513" y="6358"/>
                    <a:pt x="8430" y="6156"/>
                    <a:pt x="8275" y="6001"/>
                  </a:cubicBezTo>
                  <a:lnTo>
                    <a:pt x="8323" y="5989"/>
                  </a:lnTo>
                  <a:cubicBezTo>
                    <a:pt x="8370" y="5977"/>
                    <a:pt x="8406" y="5953"/>
                    <a:pt x="8465" y="5929"/>
                  </a:cubicBezTo>
                  <a:lnTo>
                    <a:pt x="8870" y="6334"/>
                  </a:lnTo>
                  <a:lnTo>
                    <a:pt x="8870" y="7787"/>
                  </a:lnTo>
                  <a:cubicBezTo>
                    <a:pt x="8870" y="7882"/>
                    <a:pt x="8942" y="7953"/>
                    <a:pt x="9037" y="7953"/>
                  </a:cubicBezTo>
                  <a:cubicBezTo>
                    <a:pt x="9120" y="7953"/>
                    <a:pt x="9204" y="7882"/>
                    <a:pt x="9204" y="7787"/>
                  </a:cubicBezTo>
                  <a:lnTo>
                    <a:pt x="9204" y="6334"/>
                  </a:lnTo>
                  <a:lnTo>
                    <a:pt x="9597" y="5929"/>
                  </a:lnTo>
                  <a:cubicBezTo>
                    <a:pt x="9620" y="5941"/>
                    <a:pt x="9644" y="5941"/>
                    <a:pt x="9680" y="5953"/>
                  </a:cubicBezTo>
                  <a:lnTo>
                    <a:pt x="10335" y="6156"/>
                  </a:lnTo>
                  <a:cubicBezTo>
                    <a:pt x="10478" y="6191"/>
                    <a:pt x="10585" y="6334"/>
                    <a:pt x="10585" y="6489"/>
                  </a:cubicBezTo>
                  <a:lnTo>
                    <a:pt x="10585" y="7799"/>
                  </a:lnTo>
                  <a:cubicBezTo>
                    <a:pt x="10585" y="7894"/>
                    <a:pt x="10656" y="7965"/>
                    <a:pt x="10751" y="7965"/>
                  </a:cubicBezTo>
                  <a:cubicBezTo>
                    <a:pt x="10835" y="7965"/>
                    <a:pt x="10906" y="7894"/>
                    <a:pt x="10906" y="7799"/>
                  </a:cubicBezTo>
                  <a:lnTo>
                    <a:pt x="10906" y="6489"/>
                  </a:lnTo>
                  <a:cubicBezTo>
                    <a:pt x="10871" y="6227"/>
                    <a:pt x="10656" y="5953"/>
                    <a:pt x="10382" y="5870"/>
                  </a:cubicBezTo>
                  <a:lnTo>
                    <a:pt x="9716" y="5679"/>
                  </a:lnTo>
                  <a:cubicBezTo>
                    <a:pt x="9692" y="5656"/>
                    <a:pt x="9680" y="5644"/>
                    <a:pt x="9680" y="5620"/>
                  </a:cubicBezTo>
                  <a:lnTo>
                    <a:pt x="9680" y="5394"/>
                  </a:lnTo>
                  <a:cubicBezTo>
                    <a:pt x="9739" y="5358"/>
                    <a:pt x="9787" y="5322"/>
                    <a:pt x="9823" y="5275"/>
                  </a:cubicBezTo>
                  <a:cubicBezTo>
                    <a:pt x="10049" y="5048"/>
                    <a:pt x="10180" y="4751"/>
                    <a:pt x="10180" y="4429"/>
                  </a:cubicBezTo>
                  <a:lnTo>
                    <a:pt x="10180" y="4132"/>
                  </a:lnTo>
                  <a:lnTo>
                    <a:pt x="10239" y="3989"/>
                  </a:lnTo>
                  <a:cubicBezTo>
                    <a:pt x="10323" y="3858"/>
                    <a:pt x="10347" y="3691"/>
                    <a:pt x="10347" y="3548"/>
                  </a:cubicBezTo>
                  <a:lnTo>
                    <a:pt x="10347" y="2727"/>
                  </a:lnTo>
                  <a:cubicBezTo>
                    <a:pt x="10347" y="2643"/>
                    <a:pt x="10275" y="2560"/>
                    <a:pt x="10180" y="2560"/>
                  </a:cubicBezTo>
                  <a:lnTo>
                    <a:pt x="8656" y="2560"/>
                  </a:lnTo>
                  <a:cubicBezTo>
                    <a:pt x="8096" y="2560"/>
                    <a:pt x="7644" y="3012"/>
                    <a:pt x="7644" y="3572"/>
                  </a:cubicBezTo>
                  <a:lnTo>
                    <a:pt x="7644" y="3596"/>
                  </a:lnTo>
                  <a:cubicBezTo>
                    <a:pt x="7644" y="3727"/>
                    <a:pt x="7668" y="3846"/>
                    <a:pt x="7727" y="3965"/>
                  </a:cubicBezTo>
                  <a:lnTo>
                    <a:pt x="7799" y="4132"/>
                  </a:lnTo>
                  <a:lnTo>
                    <a:pt x="7799" y="4382"/>
                  </a:lnTo>
                  <a:cubicBezTo>
                    <a:pt x="7799" y="4798"/>
                    <a:pt x="8013" y="5155"/>
                    <a:pt x="8311" y="5382"/>
                  </a:cubicBezTo>
                  <a:lnTo>
                    <a:pt x="8311" y="5596"/>
                  </a:lnTo>
                  <a:cubicBezTo>
                    <a:pt x="8311" y="5632"/>
                    <a:pt x="8311" y="5644"/>
                    <a:pt x="8180" y="5691"/>
                  </a:cubicBezTo>
                  <a:lnTo>
                    <a:pt x="7858" y="5775"/>
                  </a:lnTo>
                  <a:lnTo>
                    <a:pt x="6941" y="5441"/>
                  </a:lnTo>
                  <a:cubicBezTo>
                    <a:pt x="6941" y="5394"/>
                    <a:pt x="6930" y="5346"/>
                    <a:pt x="6894" y="5322"/>
                  </a:cubicBezTo>
                  <a:lnTo>
                    <a:pt x="6596" y="5001"/>
                  </a:lnTo>
                  <a:lnTo>
                    <a:pt x="6596" y="4489"/>
                  </a:lnTo>
                  <a:cubicBezTo>
                    <a:pt x="6632" y="4453"/>
                    <a:pt x="6656" y="4429"/>
                    <a:pt x="6691" y="4405"/>
                  </a:cubicBezTo>
                  <a:cubicBezTo>
                    <a:pt x="7061" y="4072"/>
                    <a:pt x="7263" y="3560"/>
                    <a:pt x="7263" y="3060"/>
                  </a:cubicBezTo>
                  <a:lnTo>
                    <a:pt x="7263" y="2643"/>
                  </a:lnTo>
                  <a:cubicBezTo>
                    <a:pt x="7382" y="2405"/>
                    <a:pt x="7430" y="2131"/>
                    <a:pt x="7430" y="1869"/>
                  </a:cubicBezTo>
                  <a:lnTo>
                    <a:pt x="7430" y="167"/>
                  </a:lnTo>
                  <a:cubicBezTo>
                    <a:pt x="7430" y="83"/>
                    <a:pt x="7358" y="0"/>
                    <a:pt x="726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0">
              <a:extLst>
                <a:ext uri="{FF2B5EF4-FFF2-40B4-BE49-F238E27FC236}">
                  <a16:creationId xmlns:a16="http://schemas.microsoft.com/office/drawing/2014/main" id="{9DE4F73F-C4A4-8C8B-7798-CAA5E4D5DF4C}"/>
                </a:ext>
              </a:extLst>
            </p:cNvPr>
            <p:cNvSpPr/>
            <p:nvPr/>
          </p:nvSpPr>
          <p:spPr>
            <a:xfrm>
              <a:off x="5645669" y="3625759"/>
              <a:ext cx="10248" cy="42872"/>
            </a:xfrm>
            <a:custGeom>
              <a:avLst/>
              <a:gdLst/>
              <a:ahLst/>
              <a:cxnLst/>
              <a:rect l="l" t="t" r="r" b="b"/>
              <a:pathLst>
                <a:path w="322" h="1347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1179"/>
                  </a:lnTo>
                  <a:cubicBezTo>
                    <a:pt x="0" y="1263"/>
                    <a:pt x="72" y="1346"/>
                    <a:pt x="167" y="1346"/>
                  </a:cubicBezTo>
                  <a:cubicBezTo>
                    <a:pt x="251" y="1346"/>
                    <a:pt x="322" y="1263"/>
                    <a:pt x="322" y="1179"/>
                  </a:cubicBezTo>
                  <a:lnTo>
                    <a:pt x="322" y="167"/>
                  </a:lnTo>
                  <a:cubicBezTo>
                    <a:pt x="322" y="60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0">
              <a:extLst>
                <a:ext uri="{FF2B5EF4-FFF2-40B4-BE49-F238E27FC236}">
                  <a16:creationId xmlns:a16="http://schemas.microsoft.com/office/drawing/2014/main" id="{323C1A35-50B6-EBF6-1BFD-1D68E6F82701}"/>
                </a:ext>
              </a:extLst>
            </p:cNvPr>
            <p:cNvSpPr/>
            <p:nvPr/>
          </p:nvSpPr>
          <p:spPr>
            <a:xfrm>
              <a:off x="5462247" y="3461115"/>
              <a:ext cx="86825" cy="29759"/>
            </a:xfrm>
            <a:custGeom>
              <a:avLst/>
              <a:gdLst/>
              <a:ahLst/>
              <a:cxnLst/>
              <a:rect l="l" t="t" r="r" b="b"/>
              <a:pathLst>
                <a:path w="2728" h="935" extrusionOk="0">
                  <a:moveTo>
                    <a:pt x="1094" y="0"/>
                  </a:moveTo>
                  <a:cubicBezTo>
                    <a:pt x="768" y="0"/>
                    <a:pt x="473" y="35"/>
                    <a:pt x="287" y="66"/>
                  </a:cubicBezTo>
                  <a:cubicBezTo>
                    <a:pt x="120" y="102"/>
                    <a:pt x="1" y="233"/>
                    <a:pt x="1" y="399"/>
                  </a:cubicBezTo>
                  <a:lnTo>
                    <a:pt x="1" y="768"/>
                  </a:lnTo>
                  <a:cubicBezTo>
                    <a:pt x="1" y="864"/>
                    <a:pt x="72" y="935"/>
                    <a:pt x="168" y="935"/>
                  </a:cubicBezTo>
                  <a:cubicBezTo>
                    <a:pt x="251" y="935"/>
                    <a:pt x="322" y="864"/>
                    <a:pt x="322" y="768"/>
                  </a:cubicBezTo>
                  <a:lnTo>
                    <a:pt x="322" y="399"/>
                  </a:lnTo>
                  <a:cubicBezTo>
                    <a:pt x="322" y="399"/>
                    <a:pt x="322" y="387"/>
                    <a:pt x="346" y="387"/>
                  </a:cubicBezTo>
                  <a:cubicBezTo>
                    <a:pt x="498" y="361"/>
                    <a:pt x="764" y="327"/>
                    <a:pt x="1063" y="327"/>
                  </a:cubicBezTo>
                  <a:cubicBezTo>
                    <a:pt x="1162" y="327"/>
                    <a:pt x="1266" y="331"/>
                    <a:pt x="1370" y="340"/>
                  </a:cubicBezTo>
                  <a:cubicBezTo>
                    <a:pt x="1858" y="364"/>
                    <a:pt x="2215" y="506"/>
                    <a:pt x="2442" y="709"/>
                  </a:cubicBezTo>
                  <a:cubicBezTo>
                    <a:pt x="2471" y="739"/>
                    <a:pt x="2513" y="753"/>
                    <a:pt x="2555" y="753"/>
                  </a:cubicBezTo>
                  <a:cubicBezTo>
                    <a:pt x="2596" y="753"/>
                    <a:pt x="2638" y="739"/>
                    <a:pt x="2668" y="709"/>
                  </a:cubicBezTo>
                  <a:cubicBezTo>
                    <a:pt x="2727" y="637"/>
                    <a:pt x="2727" y="530"/>
                    <a:pt x="2656" y="471"/>
                  </a:cubicBezTo>
                  <a:cubicBezTo>
                    <a:pt x="2283" y="97"/>
                    <a:pt x="1643" y="0"/>
                    <a:pt x="10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0">
              <a:extLst>
                <a:ext uri="{FF2B5EF4-FFF2-40B4-BE49-F238E27FC236}">
                  <a16:creationId xmlns:a16="http://schemas.microsoft.com/office/drawing/2014/main" id="{8FA4A982-5B3D-BCE1-E6E3-BFE445913485}"/>
                </a:ext>
              </a:extLst>
            </p:cNvPr>
            <p:cNvSpPr/>
            <p:nvPr/>
          </p:nvSpPr>
          <p:spPr>
            <a:xfrm>
              <a:off x="5441050" y="3636389"/>
              <a:ext cx="10248" cy="32241"/>
            </a:xfrm>
            <a:custGeom>
              <a:avLst/>
              <a:gdLst/>
              <a:ahLst/>
              <a:cxnLst/>
              <a:rect l="l" t="t" r="r" b="b"/>
              <a:pathLst>
                <a:path w="322" h="1013" extrusionOk="0">
                  <a:moveTo>
                    <a:pt x="167" y="0"/>
                  </a:moveTo>
                  <a:cubicBezTo>
                    <a:pt x="72" y="0"/>
                    <a:pt x="0" y="71"/>
                    <a:pt x="0" y="155"/>
                  </a:cubicBezTo>
                  <a:lnTo>
                    <a:pt x="0" y="845"/>
                  </a:lnTo>
                  <a:cubicBezTo>
                    <a:pt x="0" y="929"/>
                    <a:pt x="72" y="1012"/>
                    <a:pt x="167" y="1012"/>
                  </a:cubicBezTo>
                  <a:cubicBezTo>
                    <a:pt x="250" y="1012"/>
                    <a:pt x="322" y="929"/>
                    <a:pt x="322" y="845"/>
                  </a:cubicBezTo>
                  <a:lnTo>
                    <a:pt x="322" y="155"/>
                  </a:lnTo>
                  <a:cubicBezTo>
                    <a:pt x="310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0">
              <a:extLst>
                <a:ext uri="{FF2B5EF4-FFF2-40B4-BE49-F238E27FC236}">
                  <a16:creationId xmlns:a16="http://schemas.microsoft.com/office/drawing/2014/main" id="{06F06A2F-8764-0CB3-5A37-FD2124BF93AA}"/>
                </a:ext>
              </a:extLst>
            </p:cNvPr>
            <p:cNvSpPr/>
            <p:nvPr/>
          </p:nvSpPr>
          <p:spPr>
            <a:xfrm>
              <a:off x="5559257" y="3636389"/>
              <a:ext cx="10662" cy="32241"/>
            </a:xfrm>
            <a:custGeom>
              <a:avLst/>
              <a:gdLst/>
              <a:ahLst/>
              <a:cxnLst/>
              <a:rect l="l" t="t" r="r" b="b"/>
              <a:pathLst>
                <a:path w="335" h="1013" extrusionOk="0">
                  <a:moveTo>
                    <a:pt x="168" y="0"/>
                  </a:moveTo>
                  <a:cubicBezTo>
                    <a:pt x="84" y="0"/>
                    <a:pt x="1" y="71"/>
                    <a:pt x="1" y="155"/>
                  </a:cubicBezTo>
                  <a:lnTo>
                    <a:pt x="1" y="845"/>
                  </a:lnTo>
                  <a:cubicBezTo>
                    <a:pt x="1" y="929"/>
                    <a:pt x="84" y="1012"/>
                    <a:pt x="168" y="1012"/>
                  </a:cubicBezTo>
                  <a:cubicBezTo>
                    <a:pt x="263" y="1012"/>
                    <a:pt x="334" y="929"/>
                    <a:pt x="334" y="845"/>
                  </a:cubicBezTo>
                  <a:lnTo>
                    <a:pt x="334" y="155"/>
                  </a:lnTo>
                  <a:cubicBezTo>
                    <a:pt x="334" y="71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20">
            <a:extLst>
              <a:ext uri="{FF2B5EF4-FFF2-40B4-BE49-F238E27FC236}">
                <a16:creationId xmlns:a16="http://schemas.microsoft.com/office/drawing/2014/main" id="{DBA68E6E-E364-5A45-7011-5053D4CAB7D6}"/>
              </a:ext>
            </a:extLst>
          </p:cNvPr>
          <p:cNvSpPr txBox="1"/>
          <p:nvPr/>
        </p:nvSpPr>
        <p:spPr>
          <a:xfrm>
            <a:off x="11939700" y="6718785"/>
            <a:ext cx="3930600" cy="16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r>
              <a:rPr lang="es-MX" sz="2800" b="1" dirty="0">
                <a:solidFill>
                  <a:schemeClr val="accent1"/>
                </a:solidFill>
              </a:rPr>
              <a:t>Planteo de mejoras y </a:t>
            </a:r>
            <a:r>
              <a:rPr lang="es-MX" sz="2800" b="1" dirty="0" err="1">
                <a:solidFill>
                  <a:schemeClr val="accent1"/>
                </a:solidFill>
              </a:rPr>
              <a:t>espectativas</a:t>
            </a:r>
            <a:endParaRPr lang="es-MX" sz="2800" b="1" dirty="0">
              <a:solidFill>
                <a:schemeClr val="accent1"/>
              </a:solidFill>
            </a:endParaRPr>
          </a:p>
        </p:txBody>
      </p:sp>
      <p:sp>
        <p:nvSpPr>
          <p:cNvPr id="165" name="Google Shape;165;p20">
            <a:extLst>
              <a:ext uri="{FF2B5EF4-FFF2-40B4-BE49-F238E27FC236}">
                <a16:creationId xmlns:a16="http://schemas.microsoft.com/office/drawing/2014/main" id="{F0691594-273A-1EE0-4806-D8604BAED115}"/>
              </a:ext>
            </a:extLst>
          </p:cNvPr>
          <p:cNvSpPr/>
          <p:nvPr/>
        </p:nvSpPr>
        <p:spPr>
          <a:xfrm>
            <a:off x="7067910" y="3613069"/>
            <a:ext cx="4191000" cy="4191000"/>
          </a:xfrm>
          <a:prstGeom prst="donut">
            <a:avLst>
              <a:gd name="adj" fmla="val 160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6" name="Google Shape;166;p20">
            <a:extLst>
              <a:ext uri="{FF2B5EF4-FFF2-40B4-BE49-F238E27FC236}">
                <a16:creationId xmlns:a16="http://schemas.microsoft.com/office/drawing/2014/main" id="{E1BF956F-7B0D-6DEC-E3A3-45E056D35EB4}"/>
              </a:ext>
            </a:extLst>
          </p:cNvPr>
          <p:cNvCxnSpPr/>
          <p:nvPr/>
        </p:nvCxnSpPr>
        <p:spPr>
          <a:xfrm>
            <a:off x="7300482" y="3849959"/>
            <a:ext cx="567900" cy="567900"/>
          </a:xfrm>
          <a:prstGeom prst="straightConnector1">
            <a:avLst/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67" name="Google Shape;167;p20">
            <a:extLst>
              <a:ext uri="{FF2B5EF4-FFF2-40B4-BE49-F238E27FC236}">
                <a16:creationId xmlns:a16="http://schemas.microsoft.com/office/drawing/2014/main" id="{AD6EA35C-69CE-0338-5B9D-144103782214}"/>
              </a:ext>
            </a:extLst>
          </p:cNvPr>
          <p:cNvCxnSpPr/>
          <p:nvPr/>
        </p:nvCxnSpPr>
        <p:spPr>
          <a:xfrm rot="10800000" flipH="1">
            <a:off x="7296564" y="6993134"/>
            <a:ext cx="569700" cy="565800"/>
          </a:xfrm>
          <a:prstGeom prst="straightConnector1">
            <a:avLst/>
          </a:prstGeom>
          <a:noFill/>
          <a:ln w="28575" cap="flat" cmpd="sng">
            <a:solidFill>
              <a:srgbClr val="CCCCCC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68" name="Google Shape;168;p20">
            <a:extLst>
              <a:ext uri="{FF2B5EF4-FFF2-40B4-BE49-F238E27FC236}">
                <a16:creationId xmlns:a16="http://schemas.microsoft.com/office/drawing/2014/main" id="{6EF9BA5D-458E-27F6-2702-8E3FEDA2CB84}"/>
              </a:ext>
            </a:extLst>
          </p:cNvPr>
          <p:cNvSpPr/>
          <p:nvPr/>
        </p:nvSpPr>
        <p:spPr>
          <a:xfrm rot="-1800454" flipH="1">
            <a:off x="6943432" y="3482414"/>
            <a:ext cx="4439585" cy="4439435"/>
          </a:xfrm>
          <a:prstGeom prst="blockArc">
            <a:avLst>
              <a:gd name="adj1" fmla="val 14348563"/>
              <a:gd name="adj2" fmla="val 19872341"/>
              <a:gd name="adj3" fmla="val 91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cxnSp>
        <p:nvCxnSpPr>
          <p:cNvPr id="169" name="Google Shape;169;p20">
            <a:extLst>
              <a:ext uri="{FF2B5EF4-FFF2-40B4-BE49-F238E27FC236}">
                <a16:creationId xmlns:a16="http://schemas.microsoft.com/office/drawing/2014/main" id="{69CF3611-150E-7A55-9A4B-72E4D910BD92}"/>
              </a:ext>
            </a:extLst>
          </p:cNvPr>
          <p:cNvCxnSpPr/>
          <p:nvPr/>
        </p:nvCxnSpPr>
        <p:spPr>
          <a:xfrm rot="10800000">
            <a:off x="10443040" y="6993313"/>
            <a:ext cx="585600" cy="577500"/>
          </a:xfrm>
          <a:prstGeom prst="straightConnector1">
            <a:avLst/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70" name="Google Shape;170;p20">
            <a:extLst>
              <a:ext uri="{FF2B5EF4-FFF2-40B4-BE49-F238E27FC236}">
                <a16:creationId xmlns:a16="http://schemas.microsoft.com/office/drawing/2014/main" id="{A3A28795-42EF-A605-70BC-E7E9211EFAE5}"/>
              </a:ext>
            </a:extLst>
          </p:cNvPr>
          <p:cNvCxnSpPr/>
          <p:nvPr/>
        </p:nvCxnSpPr>
        <p:spPr>
          <a:xfrm flipH="1">
            <a:off x="10445571" y="3858373"/>
            <a:ext cx="555600" cy="559500"/>
          </a:xfrm>
          <a:prstGeom prst="straightConnector1">
            <a:avLst/>
          </a:prstGeom>
          <a:noFill/>
          <a:ln w="28575" cap="flat" cmpd="sng">
            <a:solidFill>
              <a:srgbClr val="CCCCCC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71" name="Google Shape;171;p20">
            <a:extLst>
              <a:ext uri="{FF2B5EF4-FFF2-40B4-BE49-F238E27FC236}">
                <a16:creationId xmlns:a16="http://schemas.microsoft.com/office/drawing/2014/main" id="{54833408-4885-EE03-FD33-D6794E6D40B4}"/>
              </a:ext>
            </a:extLst>
          </p:cNvPr>
          <p:cNvSpPr/>
          <p:nvPr/>
        </p:nvSpPr>
        <p:spPr>
          <a:xfrm rot="1800454">
            <a:off x="6939559" y="3482414"/>
            <a:ext cx="4439585" cy="4439435"/>
          </a:xfrm>
          <a:prstGeom prst="blockArc">
            <a:avLst>
              <a:gd name="adj1" fmla="val 14545937"/>
              <a:gd name="adj2" fmla="val 19902139"/>
              <a:gd name="adj3" fmla="val 9115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72" name="Google Shape;172;p20">
            <a:extLst>
              <a:ext uri="{FF2B5EF4-FFF2-40B4-BE49-F238E27FC236}">
                <a16:creationId xmlns:a16="http://schemas.microsoft.com/office/drawing/2014/main" id="{3CCDF6B8-662C-AEDC-2A2D-91D4BC27DBBC}"/>
              </a:ext>
            </a:extLst>
          </p:cNvPr>
          <p:cNvSpPr/>
          <p:nvPr/>
        </p:nvSpPr>
        <p:spPr>
          <a:xfrm rot="9000838">
            <a:off x="6930182" y="3481510"/>
            <a:ext cx="4438275" cy="4438275"/>
          </a:xfrm>
          <a:prstGeom prst="blockArc">
            <a:avLst>
              <a:gd name="adj1" fmla="val 18041678"/>
              <a:gd name="adj2" fmla="val 1798478"/>
              <a:gd name="adj3" fmla="val 9595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73" name="Google Shape;173;p20">
            <a:extLst>
              <a:ext uri="{FF2B5EF4-FFF2-40B4-BE49-F238E27FC236}">
                <a16:creationId xmlns:a16="http://schemas.microsoft.com/office/drawing/2014/main" id="{AE02938E-F65D-3724-FCF2-F6B1EE1C9051}"/>
              </a:ext>
            </a:extLst>
          </p:cNvPr>
          <p:cNvSpPr/>
          <p:nvPr/>
        </p:nvSpPr>
        <p:spPr>
          <a:xfrm rot="-9000838" flipH="1">
            <a:off x="6942716" y="3482747"/>
            <a:ext cx="4438275" cy="4438275"/>
          </a:xfrm>
          <a:prstGeom prst="blockArc">
            <a:avLst>
              <a:gd name="adj1" fmla="val 17967225"/>
              <a:gd name="adj2" fmla="val 1529547"/>
              <a:gd name="adj3" fmla="val 9279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74" name="Google Shape;174;p20">
            <a:extLst>
              <a:ext uri="{FF2B5EF4-FFF2-40B4-BE49-F238E27FC236}">
                <a16:creationId xmlns:a16="http://schemas.microsoft.com/office/drawing/2014/main" id="{1321D484-B941-9EFE-698B-0DE1A36D3CF2}"/>
              </a:ext>
            </a:extLst>
          </p:cNvPr>
          <p:cNvSpPr/>
          <p:nvPr/>
        </p:nvSpPr>
        <p:spPr>
          <a:xfrm rot="8100000">
            <a:off x="6851276" y="5414215"/>
            <a:ext cx="599061" cy="599061"/>
          </a:xfrm>
          <a:prstGeom prst="rtTriangle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0">
            <a:extLst>
              <a:ext uri="{FF2B5EF4-FFF2-40B4-BE49-F238E27FC236}">
                <a16:creationId xmlns:a16="http://schemas.microsoft.com/office/drawing/2014/main" id="{88FD0583-242F-FF47-766F-E989FCECFBD6}"/>
              </a:ext>
            </a:extLst>
          </p:cNvPr>
          <p:cNvSpPr/>
          <p:nvPr/>
        </p:nvSpPr>
        <p:spPr>
          <a:xfrm rot="-2700000">
            <a:off x="10864290" y="5402400"/>
            <a:ext cx="599061" cy="599061"/>
          </a:xfrm>
          <a:prstGeom prst="rtTriangle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0">
            <a:extLst>
              <a:ext uri="{FF2B5EF4-FFF2-40B4-BE49-F238E27FC236}">
                <a16:creationId xmlns:a16="http://schemas.microsoft.com/office/drawing/2014/main" id="{E0B2AECA-0812-6C46-EF07-92790ECE721B}"/>
              </a:ext>
            </a:extLst>
          </p:cNvPr>
          <p:cNvSpPr/>
          <p:nvPr/>
        </p:nvSpPr>
        <p:spPr>
          <a:xfrm rot="2700000">
            <a:off x="8857204" y="7403163"/>
            <a:ext cx="599061" cy="599061"/>
          </a:xfrm>
          <a:prstGeom prst="rtTriangle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">
            <a:extLst>
              <a:ext uri="{FF2B5EF4-FFF2-40B4-BE49-F238E27FC236}">
                <a16:creationId xmlns:a16="http://schemas.microsoft.com/office/drawing/2014/main" id="{AA6C6CC2-49A6-603A-CF43-A1055EA7437A}"/>
              </a:ext>
            </a:extLst>
          </p:cNvPr>
          <p:cNvSpPr/>
          <p:nvPr/>
        </p:nvSpPr>
        <p:spPr>
          <a:xfrm rot="-8100000">
            <a:off x="8858347" y="3384939"/>
            <a:ext cx="599061" cy="599061"/>
          </a:xfrm>
          <a:prstGeom prst="rtTriangle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0">
            <a:extLst>
              <a:ext uri="{FF2B5EF4-FFF2-40B4-BE49-F238E27FC236}">
                <a16:creationId xmlns:a16="http://schemas.microsoft.com/office/drawing/2014/main" id="{1104290A-80C7-79CA-F27D-ABD4FBC4B259}"/>
              </a:ext>
            </a:extLst>
          </p:cNvPr>
          <p:cNvSpPr txBox="1"/>
          <p:nvPr/>
        </p:nvSpPr>
        <p:spPr>
          <a:xfrm>
            <a:off x="11892782" y="2942688"/>
            <a:ext cx="3930600" cy="16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r>
              <a:rPr lang="es-PE" sz="2800" b="1" dirty="0">
                <a:solidFill>
                  <a:schemeClr val="accent1"/>
                </a:solidFill>
              </a:rPr>
              <a:t>Retorno Económico u objetivos Empresariales</a:t>
            </a:r>
          </a:p>
        </p:txBody>
      </p:sp>
      <p:sp>
        <p:nvSpPr>
          <p:cNvPr id="179" name="Google Shape;179;p20">
            <a:extLst>
              <a:ext uri="{FF2B5EF4-FFF2-40B4-BE49-F238E27FC236}">
                <a16:creationId xmlns:a16="http://schemas.microsoft.com/office/drawing/2014/main" id="{B0FC8E14-2619-4E49-C5C4-08B8984211A4}"/>
              </a:ext>
            </a:extLst>
          </p:cNvPr>
          <p:cNvSpPr txBox="1"/>
          <p:nvPr/>
        </p:nvSpPr>
        <p:spPr>
          <a:xfrm>
            <a:off x="2992275" y="2942688"/>
            <a:ext cx="3442312" cy="16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r>
              <a:rPr lang="es-PE" sz="2800" b="1" dirty="0">
                <a:solidFill>
                  <a:schemeClr val="accent1"/>
                </a:solidFill>
              </a:rPr>
              <a:t>MVP funcional en producción</a:t>
            </a:r>
          </a:p>
        </p:txBody>
      </p:sp>
      <p:sp>
        <p:nvSpPr>
          <p:cNvPr id="180" name="Google Shape;180;p20">
            <a:extLst>
              <a:ext uri="{FF2B5EF4-FFF2-40B4-BE49-F238E27FC236}">
                <a16:creationId xmlns:a16="http://schemas.microsoft.com/office/drawing/2014/main" id="{622BB1EA-CD0E-6015-95C7-9E603250276C}"/>
              </a:ext>
            </a:extLst>
          </p:cNvPr>
          <p:cNvSpPr txBox="1"/>
          <p:nvPr/>
        </p:nvSpPr>
        <p:spPr>
          <a:xfrm>
            <a:off x="2992275" y="6795688"/>
            <a:ext cx="3930600" cy="16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r>
              <a:rPr lang="es-PE" sz="2800" b="1" dirty="0">
                <a:solidFill>
                  <a:schemeClr val="accent1"/>
                </a:solidFill>
              </a:rPr>
              <a:t>Retrospectiva</a:t>
            </a:r>
          </a:p>
        </p:txBody>
      </p:sp>
      <p:sp>
        <p:nvSpPr>
          <p:cNvPr id="181" name="Google Shape;181;p20">
            <a:extLst>
              <a:ext uri="{FF2B5EF4-FFF2-40B4-BE49-F238E27FC236}">
                <a16:creationId xmlns:a16="http://schemas.microsoft.com/office/drawing/2014/main" id="{7F3FDC4B-D22B-4C53-95DE-C5A9580C1E4F}"/>
              </a:ext>
            </a:extLst>
          </p:cNvPr>
          <p:cNvSpPr txBox="1"/>
          <p:nvPr/>
        </p:nvSpPr>
        <p:spPr>
          <a:xfrm>
            <a:off x="1628250" y="1763536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MX" sz="4000" b="1" dirty="0">
                <a:latin typeface="Montserrat Black" panose="00000A00000000000000" pitchFamily="2" charset="0"/>
              </a:rPr>
              <a:t>Mejora continua por fases</a:t>
            </a:r>
          </a:p>
        </p:txBody>
      </p:sp>
    </p:spTree>
    <p:extLst>
      <p:ext uri="{BB962C8B-B14F-4D97-AF65-F5344CB8AC3E}">
        <p14:creationId xmlns:p14="http://schemas.microsoft.com/office/powerpoint/2010/main" val="1925584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/>
        </p:nvSpPr>
        <p:spPr>
          <a:xfrm>
            <a:off x="1634450" y="5644025"/>
            <a:ext cx="8451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SzPts val="4500"/>
            </a:pPr>
            <a:r>
              <a:rPr lang="es-419" sz="4000" dirty="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Desafío Técnico y Escalabilidad</a:t>
            </a:r>
            <a:endParaRPr sz="4000" b="0" i="1" u="none" strike="noStrike" cap="none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1536227" y="3625375"/>
            <a:ext cx="1332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8000" b="0" i="0" u="none" strike="noStrike" cap="none" dirty="0">
                <a:latin typeface="Montserrat Black"/>
                <a:ea typeface="Montserrat Black"/>
                <a:cs typeface="Montserrat Black"/>
                <a:sym typeface="Montserrat Black"/>
              </a:rPr>
              <a:t>5.</a:t>
            </a:r>
            <a:endParaRPr sz="8000" b="0" i="1" u="none" strike="noStrike" cap="none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2" name="Google Shape;152;p19"/>
          <p:cNvCxnSpPr/>
          <p:nvPr/>
        </p:nvCxnSpPr>
        <p:spPr>
          <a:xfrm rot="10800000">
            <a:off x="1628770" y="4652125"/>
            <a:ext cx="11475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>
          <a:extLst>
            <a:ext uri="{FF2B5EF4-FFF2-40B4-BE49-F238E27FC236}">
              <a16:creationId xmlns:a16="http://schemas.microsoft.com/office/drawing/2014/main" id="{129DA73E-CB23-CE88-6212-ECF40ACC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AA9F016F-A6C3-5E0E-CBDD-5358ABBE3D06}"/>
              </a:ext>
            </a:extLst>
          </p:cNvPr>
          <p:cNvSpPr txBox="1"/>
          <p:nvPr/>
        </p:nvSpPr>
        <p:spPr>
          <a:xfrm>
            <a:off x="1628250" y="143938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MX" sz="4000" b="1" dirty="0">
                <a:latin typeface="Montserrat Black" panose="00000A00000000000000" pitchFamily="2" charset="0"/>
              </a:rPr>
              <a:t>Tarea principal del curso</a:t>
            </a:r>
          </a:p>
        </p:txBody>
      </p:sp>
      <p:sp>
        <p:nvSpPr>
          <p:cNvPr id="3" name="Google Shape;47;p11">
            <a:extLst>
              <a:ext uri="{FF2B5EF4-FFF2-40B4-BE49-F238E27FC236}">
                <a16:creationId xmlns:a16="http://schemas.microsoft.com/office/drawing/2014/main" id="{99FF23F5-9BCF-84B4-37E1-92C25EA568AC}"/>
              </a:ext>
            </a:extLst>
          </p:cNvPr>
          <p:cNvSpPr txBox="1"/>
          <p:nvPr/>
        </p:nvSpPr>
        <p:spPr>
          <a:xfrm>
            <a:off x="3453450" y="2873829"/>
            <a:ext cx="11381100" cy="464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sz="3200" b="1" dirty="0">
                <a:latin typeface="Montserrat" panose="00000500000000000000" pitchFamily="2" charset="0"/>
              </a:rPr>
              <a:t>Mejoras Funcionales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Externalizar la base de datos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Elaborar Botón de descarga </a:t>
            </a:r>
            <a:r>
              <a:rPr lang="es-MX" sz="3200" dirty="0" err="1">
                <a:latin typeface="Montserrat" panose="00000500000000000000" pitchFamily="2" charset="0"/>
              </a:rPr>
              <a:t>pdf</a:t>
            </a:r>
            <a:r>
              <a:rPr lang="es-MX" sz="3200" dirty="0">
                <a:latin typeface="Montserrat" panose="00000500000000000000" pitchFamily="2" charset="0"/>
              </a:rPr>
              <a:t>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Mantener bajo costo y eficiencia de recursos.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Documentar decisiones técnicas y </a:t>
            </a:r>
            <a:r>
              <a:rPr lang="es-MX" sz="3200" dirty="0" err="1">
                <a:latin typeface="Montserrat" panose="00000500000000000000" pitchFamily="2" charset="0"/>
              </a:rPr>
              <a:t>trade-offs</a:t>
            </a:r>
            <a:r>
              <a:rPr lang="es-MX" sz="3200" dirty="0">
                <a:latin typeface="Montserrat" panose="00000500000000000000" pitchFamily="2" charset="0"/>
              </a:rPr>
              <a:t>.</a:t>
            </a:r>
          </a:p>
          <a:p>
            <a:r>
              <a:rPr lang="es-MX" sz="3200" b="1" dirty="0">
                <a:latin typeface="Montserrat" panose="00000500000000000000" pitchFamily="2" charset="0"/>
              </a:rPr>
              <a:t>Mejoras de seguridad</a:t>
            </a:r>
            <a:endParaRPr lang="es-MX" sz="3200" dirty="0">
              <a:latin typeface="Montserrat" panose="00000500000000000000" pitchFamily="2" charset="0"/>
            </a:endParaRPr>
          </a:p>
          <a:p>
            <a:r>
              <a:rPr lang="es-MX" sz="3200" dirty="0">
                <a:latin typeface="Montserrat" panose="00000500000000000000" pitchFamily="2" charset="0"/>
              </a:rPr>
              <a:t>- Seguridad básica de </a:t>
            </a:r>
            <a:r>
              <a:rPr lang="es-MX" sz="3200" dirty="0" err="1">
                <a:latin typeface="Montserrat" panose="00000500000000000000" pitchFamily="2" charset="0"/>
              </a:rPr>
              <a:t>endpoints</a:t>
            </a:r>
            <a:r>
              <a:rPr lang="es-MX" sz="3200" dirty="0">
                <a:latin typeface="Montserrat" panose="00000500000000000000" pitchFamily="2" charset="0"/>
              </a:rPr>
              <a:t> (llaves/tokens).</a:t>
            </a:r>
          </a:p>
          <a:p>
            <a:r>
              <a:rPr lang="es-MX" sz="3200" dirty="0">
                <a:latin typeface="Montserrat" panose="00000500000000000000" pitchFamily="2" charset="0"/>
              </a:rPr>
              <a:t>- Validaciones y manejo robusto de errores.</a:t>
            </a:r>
          </a:p>
          <a:p>
            <a:r>
              <a:rPr lang="es-MX" sz="3200" dirty="0">
                <a:latin typeface="Montserrat" panose="00000500000000000000" pitchFamily="2" charset="0"/>
              </a:rPr>
              <a:t>- Optimización de carga y consumo de API.</a:t>
            </a:r>
          </a:p>
          <a:p>
            <a:r>
              <a:rPr lang="es-MX" sz="3200" dirty="0">
                <a:latin typeface="Montserrat" panose="00000500000000000000" pitchFamily="2" charset="0"/>
              </a:rPr>
              <a:t>- Métricas mínimas para medir uso e impacto.</a:t>
            </a:r>
          </a:p>
        </p:txBody>
      </p:sp>
    </p:spTree>
    <p:extLst>
      <p:ext uri="{BB962C8B-B14F-4D97-AF65-F5344CB8AC3E}">
        <p14:creationId xmlns:p14="http://schemas.microsoft.com/office/powerpoint/2010/main" val="1349839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603F58A1-CA36-E05F-7367-EB66A1CF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cadillo: ovalado 1">
            <a:extLst>
              <a:ext uri="{FF2B5EF4-FFF2-40B4-BE49-F238E27FC236}">
                <a16:creationId xmlns:a16="http://schemas.microsoft.com/office/drawing/2014/main" id="{F4CFCDFF-1B51-780A-DE8F-D19ABB7CC902}"/>
              </a:ext>
            </a:extLst>
          </p:cNvPr>
          <p:cNvSpPr/>
          <p:nvPr/>
        </p:nvSpPr>
        <p:spPr>
          <a:xfrm rot="4461237">
            <a:off x="9454941" y="1879468"/>
            <a:ext cx="4639912" cy="4363681"/>
          </a:xfrm>
          <a:prstGeom prst="wedgeEllipse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Google Shape;39;p10">
            <a:extLst>
              <a:ext uri="{FF2B5EF4-FFF2-40B4-BE49-F238E27FC236}">
                <a16:creationId xmlns:a16="http://schemas.microsoft.com/office/drawing/2014/main" id="{4CB0EC13-00FE-3747-6BDD-C1F5F633B9D9}"/>
              </a:ext>
            </a:extLst>
          </p:cNvPr>
          <p:cNvSpPr txBox="1"/>
          <p:nvPr/>
        </p:nvSpPr>
        <p:spPr>
          <a:xfrm>
            <a:off x="10058400" y="2964491"/>
            <a:ext cx="3657599" cy="219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SzPts val="4500"/>
            </a:pPr>
            <a:r>
              <a:rPr lang="es-MX" sz="4000" dirty="0">
                <a:solidFill>
                  <a:schemeClr val="tx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Recordatorio del profe</a:t>
            </a:r>
            <a:endParaRPr sz="4000" dirty="0">
              <a:solidFill>
                <a:schemeClr val="tx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A3F27F-9B3E-8AAC-90BB-6A711232DD2B}"/>
              </a:ext>
            </a:extLst>
          </p:cNvPr>
          <p:cNvSpPr txBox="1"/>
          <p:nvPr/>
        </p:nvSpPr>
        <p:spPr>
          <a:xfrm>
            <a:off x="3729801" y="7473973"/>
            <a:ext cx="1082839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tx1"/>
                </a:solidFill>
                <a:latin typeface="Montserrat" panose="00000500000000000000" pitchFamily="2" charset="0"/>
              </a:rPr>
              <a:t>Priorizar soluciones gratuitas o free </a:t>
            </a:r>
            <a:r>
              <a:rPr lang="es-MX" sz="2800" dirty="0" err="1">
                <a:solidFill>
                  <a:schemeClr val="tx1"/>
                </a:solidFill>
                <a:latin typeface="Montserrat" panose="00000500000000000000" pitchFamily="2" charset="0"/>
              </a:rPr>
              <a:t>tier</a:t>
            </a:r>
            <a:r>
              <a:rPr lang="es-MX" sz="2800" dirty="0">
                <a:solidFill>
                  <a:schemeClr val="tx1"/>
                </a:solidFill>
                <a:latin typeface="Montserrat" panose="00000500000000000000" pitchFamily="2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tx1"/>
                </a:solidFill>
                <a:latin typeface="Montserrat" panose="00000500000000000000" pitchFamily="2" charset="0"/>
              </a:rPr>
              <a:t>Evitar </a:t>
            </a:r>
            <a:r>
              <a:rPr lang="es-MX" sz="2800" dirty="0" err="1">
                <a:solidFill>
                  <a:schemeClr val="tx1"/>
                </a:solidFill>
                <a:latin typeface="Montserrat" panose="00000500000000000000" pitchFamily="2" charset="0"/>
              </a:rPr>
              <a:t>sobre-ingeniería</a:t>
            </a:r>
            <a:r>
              <a:rPr lang="es-MX" sz="2800" dirty="0">
                <a:solidFill>
                  <a:schemeClr val="tx1"/>
                </a:solidFill>
                <a:latin typeface="Montserrat" panose="00000500000000000000" pitchFamily="2" charset="0"/>
              </a:rPr>
              <a:t> en etapas tempranas.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tx1"/>
                </a:solidFill>
                <a:latin typeface="Montserrat" panose="00000500000000000000" pitchFamily="2" charset="0"/>
              </a:rPr>
              <a:t>Optimizar lo existente antes de añadir complejidad.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tx1"/>
                </a:solidFill>
                <a:latin typeface="Montserrat" panose="00000500000000000000" pitchFamily="2" charset="0"/>
              </a:rPr>
              <a:t>Diseñar para crecer paso a paso según demanda real.</a:t>
            </a:r>
            <a:endParaRPr lang="es-MX" sz="2800" b="0" dirty="0"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D05F9444-9289-0483-1E23-A3FDE2616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076" y="997145"/>
            <a:ext cx="6128324" cy="61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28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>
          <a:extLst>
            <a:ext uri="{FF2B5EF4-FFF2-40B4-BE49-F238E27FC236}">
              <a16:creationId xmlns:a16="http://schemas.microsoft.com/office/drawing/2014/main" id="{BEF34BBB-6E4E-3125-3AB7-6FD8A925C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9854E721-8440-EB64-68A0-A76A8CF4FB50}"/>
              </a:ext>
            </a:extLst>
          </p:cNvPr>
          <p:cNvSpPr txBox="1"/>
          <p:nvPr/>
        </p:nvSpPr>
        <p:spPr>
          <a:xfrm>
            <a:off x="1628250" y="3774366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MX" sz="4000" b="1" dirty="0">
                <a:latin typeface="Montserrat Black" panose="00000A00000000000000" pitchFamily="2" charset="0"/>
              </a:rPr>
              <a:t>Entregables de la tarea</a:t>
            </a:r>
          </a:p>
        </p:txBody>
      </p:sp>
      <p:sp>
        <p:nvSpPr>
          <p:cNvPr id="3" name="Google Shape;47;p11">
            <a:extLst>
              <a:ext uri="{FF2B5EF4-FFF2-40B4-BE49-F238E27FC236}">
                <a16:creationId xmlns:a16="http://schemas.microsoft.com/office/drawing/2014/main" id="{DEAACD2E-D1AB-71C2-CB4A-04823418098E}"/>
              </a:ext>
            </a:extLst>
          </p:cNvPr>
          <p:cNvSpPr txBox="1"/>
          <p:nvPr/>
        </p:nvSpPr>
        <p:spPr>
          <a:xfrm>
            <a:off x="3453450" y="4471457"/>
            <a:ext cx="11381100" cy="207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sz="3200" dirty="0">
                <a:latin typeface="Montserrat" panose="00000500000000000000" pitchFamily="2" charset="0"/>
              </a:rPr>
              <a:t>- URL pública actualizada del proyecto.</a:t>
            </a:r>
          </a:p>
          <a:p>
            <a:r>
              <a:rPr lang="es-MX" sz="3200" dirty="0">
                <a:latin typeface="Montserrat" panose="00000500000000000000" pitchFamily="2" charset="0"/>
              </a:rPr>
              <a:t>- Evidencia de mejora aplicada (antes/después).</a:t>
            </a:r>
          </a:p>
          <a:p>
            <a:r>
              <a:rPr lang="es-MX" sz="3200" dirty="0">
                <a:latin typeface="Montserrat" panose="00000500000000000000" pitchFamily="2" charset="0"/>
              </a:rPr>
              <a:t>- Breve documento de decisiones técnicas.</a:t>
            </a:r>
          </a:p>
          <a:p>
            <a:r>
              <a:rPr lang="es-MX" sz="3200" dirty="0">
                <a:latin typeface="Montserrat" panose="00000500000000000000" pitchFamily="2" charset="0"/>
              </a:rPr>
              <a:t>- Lista de próximos incrementos priorizados.</a:t>
            </a:r>
          </a:p>
        </p:txBody>
      </p:sp>
    </p:spTree>
    <p:extLst>
      <p:ext uri="{BB962C8B-B14F-4D97-AF65-F5344CB8AC3E}">
        <p14:creationId xmlns:p14="http://schemas.microsoft.com/office/powerpoint/2010/main" val="3869615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94684B10-E56F-A157-2B82-282DF3351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F8B52499-DE63-271F-C1AC-45A3F3B80F7A}"/>
              </a:ext>
            </a:extLst>
          </p:cNvPr>
          <p:cNvSpPr txBox="1"/>
          <p:nvPr/>
        </p:nvSpPr>
        <p:spPr>
          <a:xfrm>
            <a:off x="1634450" y="5644025"/>
            <a:ext cx="8451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SzPts val="4500"/>
            </a:pPr>
            <a:r>
              <a:rPr lang="es-419" sz="4000" dirty="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Cierre</a:t>
            </a:r>
            <a:endParaRPr sz="4000" b="0" i="1" u="none" strike="noStrike" cap="none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9">
            <a:extLst>
              <a:ext uri="{FF2B5EF4-FFF2-40B4-BE49-F238E27FC236}">
                <a16:creationId xmlns:a16="http://schemas.microsoft.com/office/drawing/2014/main" id="{2FD10C8D-5841-FE39-B77F-C6F492C0F846}"/>
              </a:ext>
            </a:extLst>
          </p:cNvPr>
          <p:cNvSpPr txBox="1"/>
          <p:nvPr/>
        </p:nvSpPr>
        <p:spPr>
          <a:xfrm>
            <a:off x="1536227" y="3625375"/>
            <a:ext cx="1332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8000" dirty="0">
                <a:latin typeface="Montserrat Black"/>
                <a:ea typeface="Montserrat Black"/>
                <a:cs typeface="Montserrat Black"/>
                <a:sym typeface="Montserrat Black"/>
              </a:rPr>
              <a:t>6</a:t>
            </a:r>
            <a:r>
              <a:rPr lang="es-419" sz="8000" b="0" i="0" u="none" strike="noStrike" cap="none" dirty="0"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8000" b="0" i="1" u="none" strike="noStrike" cap="none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2" name="Google Shape;152;p19">
            <a:extLst>
              <a:ext uri="{FF2B5EF4-FFF2-40B4-BE49-F238E27FC236}">
                <a16:creationId xmlns:a16="http://schemas.microsoft.com/office/drawing/2014/main" id="{8DA43B98-2C1C-75D2-9E98-429F19F179FA}"/>
              </a:ext>
            </a:extLst>
          </p:cNvPr>
          <p:cNvCxnSpPr/>
          <p:nvPr/>
        </p:nvCxnSpPr>
        <p:spPr>
          <a:xfrm rot="10800000">
            <a:off x="1628770" y="4652125"/>
            <a:ext cx="11475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67607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>
          <a:extLst>
            <a:ext uri="{FF2B5EF4-FFF2-40B4-BE49-F238E27FC236}">
              <a16:creationId xmlns:a16="http://schemas.microsoft.com/office/drawing/2014/main" id="{DB292DD1-762B-63E6-E80A-7F0B93F60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B3DC595D-14C1-DACB-608E-C924F98691ED}"/>
              </a:ext>
            </a:extLst>
          </p:cNvPr>
          <p:cNvSpPr txBox="1"/>
          <p:nvPr/>
        </p:nvSpPr>
        <p:spPr>
          <a:xfrm>
            <a:off x="1628250" y="2794652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MX" sz="4000" b="1" dirty="0">
                <a:latin typeface="Montserrat Black" panose="00000A00000000000000" pitchFamily="2" charset="0"/>
              </a:rPr>
              <a:t>Recuerda</a:t>
            </a:r>
          </a:p>
        </p:txBody>
      </p:sp>
      <p:sp>
        <p:nvSpPr>
          <p:cNvPr id="3" name="Google Shape;47;p11">
            <a:extLst>
              <a:ext uri="{FF2B5EF4-FFF2-40B4-BE49-F238E27FC236}">
                <a16:creationId xmlns:a16="http://schemas.microsoft.com/office/drawing/2014/main" id="{82A174CB-7668-23CB-5C26-E2D1C666BB96}"/>
              </a:ext>
            </a:extLst>
          </p:cNvPr>
          <p:cNvSpPr txBox="1"/>
          <p:nvPr/>
        </p:nvSpPr>
        <p:spPr>
          <a:xfrm>
            <a:off x="3453450" y="3731635"/>
            <a:ext cx="11381100" cy="328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Lo que te apasiona puede convertirse en algo rentable.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La rentabilidad empieza cuando generas valor constante.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Tu carrera crece cuando tu trabajo impacta a otros.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" panose="00000500000000000000" pitchFamily="2" charset="0"/>
              </a:rPr>
              <a:t>Construye, publica, mide, mejora: ese es el ciclo.</a:t>
            </a:r>
          </a:p>
        </p:txBody>
      </p:sp>
    </p:spTree>
    <p:extLst>
      <p:ext uri="{BB962C8B-B14F-4D97-AF65-F5344CB8AC3E}">
        <p14:creationId xmlns:p14="http://schemas.microsoft.com/office/powerpoint/2010/main" val="1928109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</Words>
  <Application>Microsoft Office PowerPoint</Application>
  <PresentationFormat>Personalizado</PresentationFormat>
  <Paragraphs>102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Montserrat</vt:lpstr>
      <vt:lpstr>Montserrat Black</vt:lpstr>
      <vt:lpstr>Arial</vt:lpstr>
      <vt:lpstr>-apple-system</vt:lpstr>
      <vt:lpstr>Wingdings</vt:lpstr>
      <vt:lpstr>Montserrat Medium</vt:lpstr>
      <vt:lpstr>Tema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Ninkovski Morales Janampa</cp:lastModifiedBy>
  <cp:revision>5</cp:revision>
  <dcterms:modified xsi:type="dcterms:W3CDTF">2026-02-20T17:43:47Z</dcterms:modified>
</cp:coreProperties>
</file>